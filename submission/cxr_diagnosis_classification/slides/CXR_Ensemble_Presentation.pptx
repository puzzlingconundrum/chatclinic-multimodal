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n03lMBb98GTfxVCi63qaik9Ya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c0a04ac08_0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g3ec0a04ac08_0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g3ec0a04ac08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" name="Google Shape;16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6" name="Google Shape;18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0" name="Google Shape;23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7" name="Google Shape;33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9" name="Google Shape;42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8" name="Google Shape;51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4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02920" y="502920"/>
            <a:ext cx="8138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Two-Stage Ensemble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lang="en-US" sz="4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CXR Classification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502920" y="246888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Confidence-Aware Multi-Tool Agentic AI for Chest X-Ray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502920" y="3063240"/>
            <a:ext cx="3200400" cy="457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" y="32461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9EB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5C9EBA"/>
                </a:solidFill>
                <a:latin typeface="Calibri"/>
                <a:ea typeface="Calibri"/>
                <a:cs typeface="Calibri"/>
                <a:sym typeface="Calibri"/>
              </a:rPr>
              <a:t>KAIST AI619  ·  Spring 2026  ·  ChatClinic Multimodal Platform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0" y="3794760"/>
            <a:ext cx="2560320" cy="868680"/>
          </a:xfrm>
          <a:prstGeom prst="rect">
            <a:avLst/>
          </a:prstGeom>
          <a:solidFill>
            <a:srgbClr val="0D4F65"/>
          </a:solidFill>
          <a:ln cap="flat" cmpd="sng" w="12700">
            <a:solidFill>
              <a:srgbClr val="0D4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0" y="379476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E6F5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BAE6F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02920" y="42702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3C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FB3C8"/>
                </a:solidFill>
                <a:latin typeface="Calibri"/>
                <a:ea typeface="Calibri"/>
                <a:cs typeface="Calibri"/>
                <a:sym typeface="Calibri"/>
              </a:rPr>
              <a:t>Plugins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337560" y="3794760"/>
            <a:ext cx="2560320" cy="868680"/>
          </a:xfrm>
          <a:prstGeom prst="rect">
            <a:avLst/>
          </a:prstGeom>
          <a:solidFill>
            <a:srgbClr val="0D4F65"/>
          </a:solidFill>
          <a:ln cap="flat" cmpd="sng" w="12700">
            <a:solidFill>
              <a:srgbClr val="0D4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337560" y="379476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E6F5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BAE6F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337560" y="42702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3C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FB3C8"/>
                </a:solidFill>
                <a:latin typeface="Calibri"/>
                <a:ea typeface="Calibri"/>
                <a:cs typeface="Calibri"/>
                <a:sym typeface="Calibri"/>
              </a:rPr>
              <a:t>Stage Pipeline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172200" y="3794760"/>
            <a:ext cx="2560320" cy="868680"/>
          </a:xfrm>
          <a:prstGeom prst="rect">
            <a:avLst/>
          </a:prstGeom>
          <a:solidFill>
            <a:srgbClr val="0D4F65"/>
          </a:solidFill>
          <a:ln cap="flat" cmpd="sng" w="12700">
            <a:solidFill>
              <a:srgbClr val="0D4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172200" y="3794760"/>
            <a:ext cx="25603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AE6F5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BAE6F5"/>
                </a:solidFill>
                <a:latin typeface="Calibri"/>
                <a:ea typeface="Calibri"/>
                <a:cs typeface="Calibri"/>
                <a:sym typeface="Calibri"/>
              </a:rPr>
              <a:t>18 -&gt; 14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172200" y="42702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B3C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7FB3C8"/>
                </a:solidFill>
                <a:latin typeface="Calibri"/>
                <a:ea typeface="Calibri"/>
                <a:cs typeface="Calibri"/>
                <a:sym typeface="Calibri"/>
              </a:rPr>
              <a:t>Label Alignment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57200" y="45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Literature Review  ①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464731"/>
            <a:ext cx="8229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TorchXRayVision: A library of chest X-ray datasets and models</a:t>
            </a:r>
            <a:endParaRPr b="1" sz="2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t/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480560" y="1143000"/>
            <a:ext cx="4343400" cy="1737360"/>
          </a:xfrm>
          <a:prstGeom prst="rect">
            <a:avLst/>
          </a:prstGeom>
          <a:solidFill>
            <a:srgbClr val="F8FB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617720" y="120700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Available Weight Presets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617720" y="1600200"/>
            <a:ext cx="64008" cy="20116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773168" y="15819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densenet121-res224-all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995160" y="1581912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Blended multi-dataset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617720" y="1883664"/>
            <a:ext cx="64008" cy="20116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773168" y="186537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densenet121-res224-nih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995160" y="1865376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NIH ChestX-ray14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617720" y="2167128"/>
            <a:ext cx="64008" cy="20116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773168" y="214884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densenet121-res224-chex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995160" y="2148840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CheXpert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617720" y="2450592"/>
            <a:ext cx="64008" cy="20116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773168" y="243230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resnet50-res512-all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995160" y="2432304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Blended high-res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480560" y="3017520"/>
            <a:ext cx="4343400" cy="1737360"/>
          </a:xfrm>
          <a:prstGeom prst="rect">
            <a:avLst/>
          </a:prstGeom>
          <a:solidFill>
            <a:srgbClr val="EAF6FA"/>
          </a:solidFill>
          <a:ln cap="flat" cmpd="sng" w="152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617720" y="308152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Strengths &amp; Limitations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617720" y="3456432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alidated on large CXR datasets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 inference, easy deployment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Confidence unreliable on ambiguous cases</a:t>
            </a:r>
            <a:b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Fixed vocab (NIH-based, 18 labels)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 txBox="1"/>
          <p:nvPr/>
        </p:nvSpPr>
        <p:spPr>
          <a:xfrm>
            <a:off x="187875" y="1142875"/>
            <a:ext cx="4168500" cy="3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TorchXRayVision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is a p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ytorch library for chest X-ray datasets and models: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18 pathology classes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■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Atelectasis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■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Cardiomegaly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■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Effusion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■"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Datasets: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NIH ChestX-ray14, RSNA, CheXpert, MIMIC-CXR datasets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0" y="4835700"/>
            <a:ext cx="914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</a:rPr>
              <a:t>Cohen, Joseph Paul, et al. "TorchXRayVision: A library of chest X-ray datasets and models." International Conference on Medical Imaging with Deep Learning. PMLR, 2022.</a:t>
            </a:r>
            <a:endParaRPr sz="8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45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Literature Review  ②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Biom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edCLIP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" name="Google Shape;62;p3"/>
          <p:cNvGrpSpPr/>
          <p:nvPr/>
        </p:nvGrpSpPr>
        <p:grpSpPr>
          <a:xfrm>
            <a:off x="2238794" y="1647193"/>
            <a:ext cx="1687269" cy="1005872"/>
            <a:chOff x="6446520" y="1143000"/>
            <a:chExt cx="2377440" cy="1417320"/>
          </a:xfrm>
        </p:grpSpPr>
        <p:sp>
          <p:nvSpPr>
            <p:cNvPr id="63" name="Google Shape;63;p3"/>
            <p:cNvSpPr/>
            <p:nvPr/>
          </p:nvSpPr>
          <p:spPr>
            <a:xfrm>
              <a:off x="6446520" y="1143000"/>
              <a:ext cx="2377440" cy="1417320"/>
            </a:xfrm>
            <a:prstGeom prst="rect">
              <a:avLst/>
            </a:prstGeom>
            <a:solidFill>
              <a:srgbClr val="FFFBEB"/>
            </a:solidFill>
            <a:ln cap="flat" cmpd="sng" w="9025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5065" rotWithShape="0" algn="bl" dir="8100000" dist="18026">
                <a:srgbClr val="000000">
                  <a:alpha val="7843"/>
                </a:srgbClr>
              </a:outerShdw>
            </a:effectLst>
          </p:spPr>
          <p:txBody>
            <a:bodyPr anchorCtr="0" anchor="t" bIns="32425" lIns="64875" spcFirstLastPara="1" rIns="64875" wrap="square" tIns="32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6446520" y="1143000"/>
              <a:ext cx="2377440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425" lIns="64875" spcFirstLastPara="1" rIns="64875" wrap="square" tIns="32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2400E"/>
                </a:buClr>
                <a:buSzPts val="852"/>
                <a:buFont typeface="Calibri"/>
                <a:buNone/>
              </a:pPr>
              <a:r>
                <a:rPr b="1" lang="en-US" sz="71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"Lung Lesion"</a:t>
              </a:r>
              <a:endParaRPr b="1" sz="71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92400E"/>
                </a:buClr>
                <a:buSzPts val="852"/>
                <a:buFont typeface="Calibri"/>
                <a:buNone/>
              </a:pPr>
              <a:r>
                <a:rPr b="1" lang="en-US" sz="71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"a large </a:t>
              </a:r>
              <a:r>
                <a:rPr b="1" lang="en-US" sz="710" u="sng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pleural effusion</a:t>
              </a:r>
              <a:r>
                <a:rPr b="1" lang="en-US" sz="71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 on the right"</a:t>
              </a:r>
              <a:endParaRPr b="1" sz="71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6446520" y="1965960"/>
              <a:ext cx="237744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2425" lIns="64875" spcFirstLastPara="1" rIns="64875" wrap="square" tIns="324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2400E"/>
                </a:buClr>
                <a:buSzPts val="781"/>
                <a:buFont typeface="Calibri"/>
                <a:buNone/>
              </a:pPr>
              <a:r>
                <a:rPr lang="en-US" sz="781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Text Encoder</a:t>
              </a:r>
              <a:endParaRPr sz="78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2400E"/>
                </a:buClr>
                <a:buSzPts val="781"/>
                <a:buFont typeface="Calibri"/>
                <a:buNone/>
              </a:pPr>
              <a:r>
                <a:rPr lang="en-US" sz="781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(PubMedBERT)</a:t>
              </a:r>
              <a:endParaRPr sz="78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" name="Google Shape;66;p3"/>
          <p:cNvGrpSpPr/>
          <p:nvPr/>
        </p:nvGrpSpPr>
        <p:grpSpPr>
          <a:xfrm>
            <a:off x="4731560" y="2732588"/>
            <a:ext cx="4114800" cy="2057400"/>
            <a:chOff x="4709160" y="2788920"/>
            <a:chExt cx="4114800" cy="2057400"/>
          </a:xfrm>
        </p:grpSpPr>
        <p:sp>
          <p:nvSpPr>
            <p:cNvPr id="67" name="Google Shape;67;p3"/>
            <p:cNvSpPr/>
            <p:nvPr/>
          </p:nvSpPr>
          <p:spPr>
            <a:xfrm>
              <a:off x="4709160" y="2788920"/>
              <a:ext cx="4114800" cy="2057400"/>
            </a:xfrm>
            <a:prstGeom prst="rect">
              <a:avLst/>
            </a:prstGeom>
            <a:solidFill>
              <a:srgbClr val="EDF6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846320" y="2834640"/>
              <a:ext cx="384048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7490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0D7490"/>
                  </a:solidFill>
                  <a:latin typeface="Calibri"/>
                  <a:ea typeface="Calibri"/>
                  <a:cs typeface="Calibri"/>
                  <a:sym typeface="Calibri"/>
                </a:rPr>
                <a:t>Zero-Shot CXR Classification with BiomedCLIP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846320" y="3236976"/>
              <a:ext cx="3840480" cy="1508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84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AutoNum type="arabicPeriod"/>
              </a:pPr>
              <a:r>
                <a:rPr b="1"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BiomedCLIP alignment</a:t>
              </a: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 against </a:t>
              </a: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14 CheXpert labels</a:t>
              </a:r>
              <a:endParaRPr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1" marL="91440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Char char="○"/>
              </a:pP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3 prompt templates per label, results averaged:</a:t>
              </a:r>
              <a:b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e.g.,  </a:t>
              </a:r>
              <a:endParaRPr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2" marL="137160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Char char="■"/>
              </a:pP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"</a:t>
              </a: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chest x-ray with</a:t>
              </a: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1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{label}</a:t>
              </a: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"</a:t>
              </a:r>
              <a:endParaRPr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2" marL="137160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Char char="■"/>
              </a:pP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"</a:t>
              </a: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chest radiograph showing</a:t>
              </a: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1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{label}</a:t>
              </a: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"</a:t>
              </a:r>
              <a:endParaRPr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2" marL="137160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Char char="■"/>
              </a:pP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"radiographic evidence of </a:t>
              </a:r>
              <a:r>
                <a:rPr lang="en-US" sz="11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{label}</a:t>
              </a: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"</a:t>
              </a:r>
              <a:endParaRPr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AutoNum type="arabicPeriod"/>
              </a:pP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Softmax probabilities</a:t>
              </a:r>
              <a:endParaRPr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AutoNum type="arabicPeriod"/>
              </a:pPr>
              <a:r>
                <a:rPr b="1"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Thresholding</a:t>
              </a: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 with C/N, if above threshold then </a:t>
              </a:r>
              <a:r>
                <a:rPr b="1" lang="en-US" sz="1100">
                  <a:solidFill>
                    <a:srgbClr val="059669"/>
                  </a:solidFill>
                  <a:latin typeface="Calibri"/>
                  <a:ea typeface="Calibri"/>
                  <a:cs typeface="Calibri"/>
                  <a:sym typeface="Calibri"/>
                </a:rPr>
                <a:t>positive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70;p3"/>
          <p:cNvGrpSpPr/>
          <p:nvPr/>
        </p:nvGrpSpPr>
        <p:grpSpPr>
          <a:xfrm>
            <a:off x="286090" y="3109549"/>
            <a:ext cx="1687550" cy="1005787"/>
            <a:chOff x="320040" y="1143000"/>
            <a:chExt cx="2377500" cy="1417200"/>
          </a:xfrm>
        </p:grpSpPr>
        <p:sp>
          <p:nvSpPr>
            <p:cNvPr id="71" name="Google Shape;71;p3"/>
            <p:cNvSpPr/>
            <p:nvPr/>
          </p:nvSpPr>
          <p:spPr>
            <a:xfrm>
              <a:off x="320040" y="1143000"/>
              <a:ext cx="2377500" cy="1417200"/>
            </a:xfrm>
            <a:prstGeom prst="rect">
              <a:avLst/>
            </a:prstGeom>
            <a:solidFill>
              <a:srgbClr val="EAF6FA"/>
            </a:solidFill>
            <a:ln cap="flat" cmpd="sng" w="9025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5072" rotWithShape="0" algn="bl" dir="8100000" dist="18029">
                <a:srgbClr val="000000">
                  <a:alpha val="7843"/>
                </a:srgbClr>
              </a:outerShdw>
            </a:effectLst>
          </p:spPr>
          <p:txBody>
            <a:bodyPr anchorCtr="0" anchor="t" bIns="32450" lIns="64900" spcFirstLastPara="1" rIns="64900" wrap="square" tIns="32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7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357395" y="1335700"/>
              <a:ext cx="11844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2450" lIns="64900" spcFirstLastPara="1" rIns="64900" wrap="square" tIns="32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7490"/>
                </a:buClr>
                <a:buSzPts val="852"/>
                <a:buFont typeface="Calibri"/>
                <a:buNone/>
              </a:pPr>
              <a:r>
                <a:rPr b="1" lang="en-US" sz="852">
                  <a:solidFill>
                    <a:srgbClr val="0D7490"/>
                  </a:solidFill>
                  <a:latin typeface="Calibri"/>
                  <a:ea typeface="Calibri"/>
                  <a:cs typeface="Calibri"/>
                  <a:sym typeface="Calibri"/>
                </a:rPr>
                <a:t>CXR Image</a:t>
              </a:r>
              <a:endParaRPr sz="85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320050" y="1821650"/>
              <a:ext cx="1259100" cy="4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2450" lIns="64900" spcFirstLastPara="1" rIns="64900" wrap="square" tIns="324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781"/>
                <a:buFont typeface="Calibri"/>
                <a:buNone/>
              </a:pPr>
              <a:r>
                <a:rPr lang="en-US" sz="78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Visual Encoder</a:t>
              </a:r>
              <a:endParaRPr sz="78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781"/>
                <a:buFont typeface="Calibri"/>
                <a:buNone/>
              </a:pPr>
              <a:r>
                <a:rPr lang="en-US" sz="78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(ViT-B/16)</a:t>
              </a:r>
              <a:endParaRPr sz="78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4" name="Google Shape;74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79175" y="1269873"/>
              <a:ext cx="953077" cy="10904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5" name="Google Shape;75;p3"/>
          <p:cNvGrpSpPr/>
          <p:nvPr/>
        </p:nvGrpSpPr>
        <p:grpSpPr>
          <a:xfrm>
            <a:off x="4731550" y="1091368"/>
            <a:ext cx="4114800" cy="1555705"/>
            <a:chOff x="320050" y="2788925"/>
            <a:chExt cx="4114800" cy="1525500"/>
          </a:xfrm>
        </p:grpSpPr>
        <p:sp>
          <p:nvSpPr>
            <p:cNvPr id="76" name="Google Shape;76;p3"/>
            <p:cNvSpPr/>
            <p:nvPr/>
          </p:nvSpPr>
          <p:spPr>
            <a:xfrm>
              <a:off x="320050" y="2788925"/>
              <a:ext cx="4114800" cy="1525500"/>
            </a:xfrm>
            <a:prstGeom prst="rect">
              <a:avLst/>
            </a:prstGeom>
            <a:solidFill>
              <a:srgbClr val="EDF6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457200" y="2834640"/>
              <a:ext cx="384048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7490"/>
                </a:buClr>
                <a:buSzPts val="1200"/>
                <a:buFont typeface="Calibri"/>
                <a:buNone/>
              </a:pPr>
              <a:r>
                <a:rPr b="1" lang="en-US" sz="1200">
                  <a:solidFill>
                    <a:srgbClr val="0D7490"/>
                  </a:solidFill>
                  <a:latin typeface="Calibri"/>
                  <a:ea typeface="Calibri"/>
                  <a:cs typeface="Calibri"/>
                  <a:sym typeface="Calibri"/>
                </a:rPr>
                <a:t>BiomedCLIP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457200" y="3236975"/>
              <a:ext cx="3840600" cy="65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Vision Encoder: </a:t>
              </a: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ViT-B/16</a:t>
              </a:r>
              <a:b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Text Encoder: </a:t>
              </a: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PubMedBERT (domain-specific)</a:t>
              </a:r>
              <a:endParaRPr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Data:</a:t>
              </a:r>
              <a:r>
                <a:rPr lang="en-US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 PMC-15M (Large-scale text-image data from PubMed Central)</a:t>
              </a:r>
              <a:endParaRPr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100"/>
                <a:buFont typeface="Calibri"/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484775" y="3914375"/>
              <a:ext cx="3718200" cy="28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rgbClr val="0D4F6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" name="Google Shape;80;p3"/>
            <p:cNvGrpSpPr/>
            <p:nvPr/>
          </p:nvGrpSpPr>
          <p:grpSpPr>
            <a:xfrm>
              <a:off x="486773" y="3887975"/>
              <a:ext cx="3781327" cy="332100"/>
              <a:chOff x="357400" y="4144900"/>
              <a:chExt cx="3781327" cy="332100"/>
            </a:xfrm>
          </p:grpSpPr>
          <p:sp>
            <p:nvSpPr>
              <p:cNvPr id="81" name="Google Shape;81;p3"/>
              <p:cNvSpPr txBox="1"/>
              <p:nvPr/>
            </p:nvSpPr>
            <p:spPr>
              <a:xfrm>
                <a:off x="522227" y="4144900"/>
                <a:ext cx="3616500" cy="33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microsoft/BiomedCLIP-PubMedBERT_256-vit_base_patch16_224</a:t>
                </a:r>
                <a:endParaRPr b="1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2" name="Google Shape;82;p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57400" y="4196324"/>
                <a:ext cx="251175" cy="2511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83" name="Google Shape;83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42713" y="2725475"/>
            <a:ext cx="1474831" cy="141732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0" y="4835700"/>
            <a:ext cx="876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</a:rPr>
              <a:t>Zhang, Sheng, et al. "Biomedclip: a multimodal biomedical foundation model pretrained from fifteen million scientific image-text pairs." arXiv preprint arXiv:2303.00915 (2023).</a:t>
            </a:r>
            <a:endParaRPr sz="800">
              <a:solidFill>
                <a:srgbClr val="666666"/>
              </a:solidFill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763875" y="2622625"/>
            <a:ext cx="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b="1">
              <a:solidFill>
                <a:srgbClr val="0D74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2716438" y="1218875"/>
            <a:ext cx="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b="1">
              <a:solidFill>
                <a:srgbClr val="92400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45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a Single Model Isn't Enough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322950" y="1144075"/>
            <a:ext cx="84981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Is the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argmax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prediction the most reliable?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4"/>
          <p:cNvGrpSpPr/>
          <p:nvPr/>
        </p:nvGrpSpPr>
        <p:grpSpPr>
          <a:xfrm>
            <a:off x="966225" y="1919313"/>
            <a:ext cx="4381875" cy="2041178"/>
            <a:chOff x="4026500" y="1944675"/>
            <a:chExt cx="4381875" cy="2041178"/>
          </a:xfrm>
        </p:grpSpPr>
        <p:grpSp>
          <p:nvGrpSpPr>
            <p:cNvPr id="97" name="Google Shape;97;p4"/>
            <p:cNvGrpSpPr/>
            <p:nvPr/>
          </p:nvGrpSpPr>
          <p:grpSpPr>
            <a:xfrm>
              <a:off x="4265075" y="2710829"/>
              <a:ext cx="4143300" cy="1275024"/>
              <a:chOff x="1807575" y="2480230"/>
              <a:chExt cx="4143300" cy="942020"/>
            </a:xfrm>
          </p:grpSpPr>
          <p:cxnSp>
            <p:nvCxnSpPr>
              <p:cNvPr id="98" name="Google Shape;98;p4"/>
              <p:cNvCxnSpPr/>
              <p:nvPr/>
            </p:nvCxnSpPr>
            <p:spPr>
              <a:xfrm>
                <a:off x="1807575" y="3422250"/>
                <a:ext cx="4143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" name="Google Shape;99;p4"/>
              <p:cNvSpPr/>
              <p:nvPr/>
            </p:nvSpPr>
            <p:spPr>
              <a:xfrm>
                <a:off x="1914225" y="2480230"/>
                <a:ext cx="390900" cy="934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2305125" y="2574278"/>
                <a:ext cx="390900" cy="837600"/>
              </a:xfrm>
              <a:prstGeom prst="rect">
                <a:avLst/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2690948" y="2691075"/>
                <a:ext cx="390900" cy="720900"/>
              </a:xfrm>
              <a:prstGeom prst="rect">
                <a:avLst/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3076770" y="2604745"/>
                <a:ext cx="390900" cy="807300"/>
              </a:xfrm>
              <a:prstGeom prst="rect">
                <a:avLst/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3462600" y="3142975"/>
                <a:ext cx="390900" cy="269100"/>
              </a:xfrm>
              <a:prstGeom prst="rect">
                <a:avLst/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3848425" y="2817674"/>
                <a:ext cx="390900" cy="594300"/>
              </a:xfrm>
              <a:prstGeom prst="rect">
                <a:avLst/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4234250" y="2640300"/>
                <a:ext cx="390900" cy="771900"/>
              </a:xfrm>
              <a:prstGeom prst="rect">
                <a:avLst/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4620070" y="2604745"/>
                <a:ext cx="390900" cy="807300"/>
              </a:xfrm>
              <a:prstGeom prst="rect">
                <a:avLst/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5005900" y="2640150"/>
                <a:ext cx="390900" cy="771900"/>
              </a:xfrm>
              <a:prstGeom prst="rect">
                <a:avLst/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5391725" y="2714025"/>
                <a:ext cx="390900" cy="700800"/>
              </a:xfrm>
              <a:prstGeom prst="rect">
                <a:avLst/>
              </a:prstGeom>
              <a:solidFill>
                <a:srgbClr val="64748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09" name="Google Shape;109;p4"/>
            <p:cNvCxnSpPr/>
            <p:nvPr/>
          </p:nvCxnSpPr>
          <p:spPr>
            <a:xfrm>
              <a:off x="4559600" y="2279800"/>
              <a:ext cx="0" cy="3402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0" name="Google Shape;110;p4"/>
            <p:cNvSpPr txBox="1"/>
            <p:nvPr/>
          </p:nvSpPr>
          <p:spPr>
            <a:xfrm>
              <a:off x="4026500" y="1944675"/>
              <a:ext cx="1066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Top-score</a:t>
              </a:r>
              <a:endParaRPr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4"/>
          <p:cNvSpPr txBox="1"/>
          <p:nvPr/>
        </p:nvSpPr>
        <p:spPr>
          <a:xfrm>
            <a:off x="5113275" y="2186738"/>
            <a:ext cx="36759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The actual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confidence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margin</a:t>
            </a: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 also matters!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26600" y="4143225"/>
            <a:ext cx="8890800" cy="8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Second or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third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opinions</a:t>
            </a: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 are needed when the initial model is uncertain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4"/>
          <p:cNvCxnSpPr/>
          <p:nvPr/>
        </p:nvCxnSpPr>
        <p:spPr>
          <a:xfrm rot="10800000">
            <a:off x="940425" y="2816575"/>
            <a:ext cx="756300" cy="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4"/>
          <p:cNvCxnSpPr/>
          <p:nvPr/>
        </p:nvCxnSpPr>
        <p:spPr>
          <a:xfrm rot="10800000">
            <a:off x="930779" y="2687825"/>
            <a:ext cx="365700" cy="0"/>
          </a:xfrm>
          <a:prstGeom prst="straightConnector1">
            <a:avLst/>
          </a:prstGeom>
          <a:noFill/>
          <a:ln cap="flat" cmpd="sng" w="19050">
            <a:solidFill>
              <a:srgbClr val="A64D7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5" name="Google Shape;115;p4"/>
          <p:cNvSpPr txBox="1"/>
          <p:nvPr/>
        </p:nvSpPr>
        <p:spPr>
          <a:xfrm>
            <a:off x="271469" y="2538123"/>
            <a:ext cx="85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A64D79"/>
                </a:solidFill>
              </a:rPr>
              <a:t>Margin</a:t>
            </a:r>
            <a:endParaRPr b="1" sz="1000">
              <a:solidFill>
                <a:srgbClr val="A64D7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c0a04ac08_0_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1B3A4B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ec0a04ac08_0_1"/>
          <p:cNvSpPr/>
          <p:nvPr/>
        </p:nvSpPr>
        <p:spPr>
          <a:xfrm>
            <a:off x="457200" y="45720"/>
            <a:ext cx="8229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ec0a04ac08_0_1"/>
          <p:cNvSpPr/>
          <p:nvPr/>
        </p:nvSpPr>
        <p:spPr>
          <a:xfrm>
            <a:off x="457200" y="36576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a Single Model Isn't Enough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ec0a04ac08_0_1"/>
          <p:cNvSpPr/>
          <p:nvPr/>
        </p:nvSpPr>
        <p:spPr>
          <a:xfrm>
            <a:off x="2377440" y="1143000"/>
            <a:ext cx="3063300" cy="475500"/>
          </a:xfrm>
          <a:prstGeom prst="rect">
            <a:avLst/>
          </a:prstGeom>
          <a:solidFill>
            <a:srgbClr val="0D7490"/>
          </a:solidFill>
          <a:ln cap="flat" cmpd="sng" w="12700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ec0a04ac08_0_1"/>
          <p:cNvSpPr/>
          <p:nvPr/>
        </p:nvSpPr>
        <p:spPr>
          <a:xfrm>
            <a:off x="2377440" y="1143000"/>
            <a:ext cx="3063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TorchX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ayVision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ec0a04ac08_0_1"/>
          <p:cNvSpPr/>
          <p:nvPr/>
        </p:nvSpPr>
        <p:spPr>
          <a:xfrm>
            <a:off x="5577840" y="1143000"/>
            <a:ext cx="3246000" cy="475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ec0a04ac08_0_1"/>
          <p:cNvSpPr/>
          <p:nvPr/>
        </p:nvSpPr>
        <p:spPr>
          <a:xfrm>
            <a:off x="5577840" y="1143000"/>
            <a:ext cx="32460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Biom</a:t>
            </a: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edCLIP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ec0a04ac08_0_1"/>
          <p:cNvSpPr/>
          <p:nvPr/>
        </p:nvSpPr>
        <p:spPr>
          <a:xfrm>
            <a:off x="320040" y="1709928"/>
            <a:ext cx="1965900" cy="530400"/>
          </a:xfrm>
          <a:prstGeom prst="rect">
            <a:avLst/>
          </a:prstGeom>
          <a:solidFill>
            <a:srgbClr val="F8FB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ec0a04ac08_0_1"/>
          <p:cNvSpPr/>
          <p:nvPr/>
        </p:nvSpPr>
        <p:spPr>
          <a:xfrm>
            <a:off x="347472" y="1709928"/>
            <a:ext cx="1911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ec0a04ac08_0_1"/>
          <p:cNvSpPr/>
          <p:nvPr/>
        </p:nvSpPr>
        <p:spPr>
          <a:xfrm>
            <a:off x="2377440" y="1709928"/>
            <a:ext cx="3063300" cy="530400"/>
          </a:xfrm>
          <a:prstGeom prst="rect">
            <a:avLst/>
          </a:prstGeom>
          <a:solidFill>
            <a:srgbClr val="F8FB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ec0a04ac08_0_1"/>
          <p:cNvSpPr/>
          <p:nvPr/>
        </p:nvSpPr>
        <p:spPr>
          <a:xfrm>
            <a:off x="2441448" y="1709928"/>
            <a:ext cx="2935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Discriminative CNN (supervised)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ec0a04ac08_0_1"/>
          <p:cNvSpPr/>
          <p:nvPr/>
        </p:nvSpPr>
        <p:spPr>
          <a:xfrm>
            <a:off x="5577840" y="1709928"/>
            <a:ext cx="3246000" cy="530400"/>
          </a:xfrm>
          <a:prstGeom prst="rect">
            <a:avLst/>
          </a:prstGeom>
          <a:solidFill>
            <a:srgbClr val="F8FB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ec0a04ac08_0_1"/>
          <p:cNvSpPr/>
          <p:nvPr/>
        </p:nvSpPr>
        <p:spPr>
          <a:xfrm>
            <a:off x="5641848" y="1709928"/>
            <a:ext cx="3118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Contrastive vision-language model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ec0a04ac08_0_1"/>
          <p:cNvSpPr/>
          <p:nvPr/>
        </p:nvSpPr>
        <p:spPr>
          <a:xfrm>
            <a:off x="320040" y="2276856"/>
            <a:ext cx="19659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ec0a04ac08_0_1"/>
          <p:cNvSpPr/>
          <p:nvPr/>
        </p:nvSpPr>
        <p:spPr>
          <a:xfrm>
            <a:off x="347472" y="2276856"/>
            <a:ext cx="1911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Vocab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ec0a04ac08_0_1"/>
          <p:cNvSpPr/>
          <p:nvPr/>
        </p:nvSpPr>
        <p:spPr>
          <a:xfrm>
            <a:off x="2377440" y="2276856"/>
            <a:ext cx="30633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ec0a04ac08_0_1"/>
          <p:cNvSpPr/>
          <p:nvPr/>
        </p:nvSpPr>
        <p:spPr>
          <a:xfrm>
            <a:off x="2441448" y="2276856"/>
            <a:ext cx="2935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18 labels  (NIH ChestX-ray14)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ec0a04ac08_0_1"/>
          <p:cNvSpPr/>
          <p:nvPr/>
        </p:nvSpPr>
        <p:spPr>
          <a:xfrm>
            <a:off x="5577840" y="2276856"/>
            <a:ext cx="32460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ec0a04ac08_0_1"/>
          <p:cNvSpPr/>
          <p:nvPr/>
        </p:nvSpPr>
        <p:spPr>
          <a:xfrm>
            <a:off x="5641848" y="2276856"/>
            <a:ext cx="3118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14 labels  (CheXpert-based)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ec0a04ac08_0_1"/>
          <p:cNvSpPr/>
          <p:nvPr/>
        </p:nvSpPr>
        <p:spPr>
          <a:xfrm>
            <a:off x="320040" y="2843784"/>
            <a:ext cx="1965900" cy="530400"/>
          </a:xfrm>
          <a:prstGeom prst="rect">
            <a:avLst/>
          </a:prstGeom>
          <a:solidFill>
            <a:srgbClr val="F8FB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ec0a04ac08_0_1"/>
          <p:cNvSpPr/>
          <p:nvPr/>
        </p:nvSpPr>
        <p:spPr>
          <a:xfrm>
            <a:off x="347472" y="2843784"/>
            <a:ext cx="1911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ec0a04ac08_0_1"/>
          <p:cNvSpPr/>
          <p:nvPr/>
        </p:nvSpPr>
        <p:spPr>
          <a:xfrm>
            <a:off x="2377440" y="2843784"/>
            <a:ext cx="3063300" cy="530400"/>
          </a:xfrm>
          <a:prstGeom prst="rect">
            <a:avLst/>
          </a:prstGeom>
          <a:solidFill>
            <a:srgbClr val="F8FB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ec0a04ac08_0_1"/>
          <p:cNvSpPr/>
          <p:nvPr/>
        </p:nvSpPr>
        <p:spPr>
          <a:xfrm>
            <a:off x="2441448" y="2843784"/>
            <a:ext cx="2935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Fast, validated on large CXR datasets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3ec0a04ac08_0_1"/>
          <p:cNvSpPr/>
          <p:nvPr/>
        </p:nvSpPr>
        <p:spPr>
          <a:xfrm>
            <a:off x="5577840" y="2843784"/>
            <a:ext cx="3246000" cy="530400"/>
          </a:xfrm>
          <a:prstGeom prst="rect">
            <a:avLst/>
          </a:prstGeom>
          <a:solidFill>
            <a:srgbClr val="F8FB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ec0a04ac08_0_1"/>
          <p:cNvSpPr/>
          <p:nvPr/>
        </p:nvSpPr>
        <p:spPr>
          <a:xfrm>
            <a:off x="5641848" y="2843784"/>
            <a:ext cx="3118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Zero-shot, flexible text prompting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ec0a04ac08_0_1"/>
          <p:cNvSpPr/>
          <p:nvPr/>
        </p:nvSpPr>
        <p:spPr>
          <a:xfrm>
            <a:off x="320040" y="3410712"/>
            <a:ext cx="19659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ec0a04ac08_0_1"/>
          <p:cNvSpPr/>
          <p:nvPr/>
        </p:nvSpPr>
        <p:spPr>
          <a:xfrm>
            <a:off x="347472" y="3410712"/>
            <a:ext cx="1911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Weaknesses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ec0a04ac08_0_1"/>
          <p:cNvSpPr/>
          <p:nvPr/>
        </p:nvSpPr>
        <p:spPr>
          <a:xfrm>
            <a:off x="2377440" y="3410712"/>
            <a:ext cx="30633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ec0a04ac08_0_1"/>
          <p:cNvSpPr/>
          <p:nvPr/>
        </p:nvSpPr>
        <p:spPr>
          <a:xfrm>
            <a:off x="2441448" y="3410712"/>
            <a:ext cx="2935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Fixed vocabulary size</a:t>
            </a:r>
            <a:endParaRPr sz="9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confidence degrades on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ambiguous/low-contrast images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ec0a04ac08_0_1"/>
          <p:cNvSpPr/>
          <p:nvPr/>
        </p:nvSpPr>
        <p:spPr>
          <a:xfrm>
            <a:off x="5577840" y="3410712"/>
            <a:ext cx="32460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ec0a04ac08_0_1"/>
          <p:cNvSpPr/>
          <p:nvPr/>
        </p:nvSpPr>
        <p:spPr>
          <a:xfrm>
            <a:off x="5641848" y="3410712"/>
            <a:ext cx="3118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Vision-Language domain gap </a:t>
            </a:r>
            <a:endParaRPr sz="9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relative scores can</a:t>
            </a:r>
            <a:r>
              <a:rPr lang="en-US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underweight co-existing pathologies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c0a04ac08_0_1"/>
          <p:cNvSpPr/>
          <p:nvPr/>
        </p:nvSpPr>
        <p:spPr>
          <a:xfrm>
            <a:off x="320040" y="3977640"/>
            <a:ext cx="1965900" cy="530400"/>
          </a:xfrm>
          <a:prstGeom prst="rect">
            <a:avLst/>
          </a:prstGeom>
          <a:solidFill>
            <a:srgbClr val="F8FB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ec0a04ac08_0_1"/>
          <p:cNvSpPr/>
          <p:nvPr/>
        </p:nvSpPr>
        <p:spPr>
          <a:xfrm>
            <a:off x="347472" y="3977640"/>
            <a:ext cx="1911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Score type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ec0a04ac08_0_1"/>
          <p:cNvSpPr/>
          <p:nvPr/>
        </p:nvSpPr>
        <p:spPr>
          <a:xfrm>
            <a:off x="2377440" y="3977640"/>
            <a:ext cx="3063300" cy="530400"/>
          </a:xfrm>
          <a:prstGeom prst="rect">
            <a:avLst/>
          </a:prstGeom>
          <a:solidFill>
            <a:srgbClr val="F8FB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ec0a04ac08_0_1"/>
          <p:cNvSpPr/>
          <p:nvPr/>
        </p:nvSpPr>
        <p:spPr>
          <a:xfrm>
            <a:off x="2441448" y="3977640"/>
            <a:ext cx="2935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Sigmoid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ec0a04ac08_0_1"/>
          <p:cNvSpPr/>
          <p:nvPr/>
        </p:nvSpPr>
        <p:spPr>
          <a:xfrm>
            <a:off x="5577840" y="3977640"/>
            <a:ext cx="3246000" cy="530400"/>
          </a:xfrm>
          <a:prstGeom prst="rect">
            <a:avLst/>
          </a:prstGeom>
          <a:solidFill>
            <a:srgbClr val="F8FB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ec0a04ac08_0_1"/>
          <p:cNvSpPr/>
          <p:nvPr/>
        </p:nvSpPr>
        <p:spPr>
          <a:xfrm>
            <a:off x="5641848" y="3977640"/>
            <a:ext cx="3118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Softmax  (probabilities, sums to 1)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g3ec0a04ac08_0_1"/>
          <p:cNvSpPr/>
          <p:nvPr/>
        </p:nvSpPr>
        <p:spPr>
          <a:xfrm>
            <a:off x="320040" y="4572000"/>
            <a:ext cx="8503800" cy="438900"/>
          </a:xfrm>
          <a:prstGeom prst="rect">
            <a:avLst/>
          </a:prstGeom>
          <a:solidFill>
            <a:srgbClr val="FFFBEB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ec0a04ac08_0_1"/>
          <p:cNvSpPr/>
          <p:nvPr/>
        </p:nvSpPr>
        <p:spPr>
          <a:xfrm>
            <a:off x="384048" y="4572000"/>
            <a:ext cx="8376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Combining different models requires </a:t>
            </a:r>
            <a:r>
              <a:rPr b="1" lang="en-US" sz="1150" u="sng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label alignment</a:t>
            </a:r>
            <a:r>
              <a:rPr b="1" lang="en-US" sz="11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1150" u="sng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confidence-aligned routing</a:t>
            </a:r>
            <a:r>
              <a:rPr b="1" lang="en-US" sz="11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4B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57200" y="377530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Confidence-Aware Two-Stage Ensemble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711124" y="1541400"/>
            <a:ext cx="2812500" cy="2060700"/>
          </a:xfrm>
          <a:prstGeom prst="rect">
            <a:avLst/>
          </a:prstGeom>
          <a:solidFill>
            <a:srgbClr val="0D7490"/>
          </a:solidFill>
          <a:ln cap="flat" cmpd="sng" w="8950">
            <a:solidFill>
              <a:srgbClr val="BAE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2175" lIns="64375" spcFirstLastPara="1" rIns="64375" wrap="square" tIns="32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885485" y="1618673"/>
            <a:ext cx="463800" cy="463800"/>
          </a:xfrm>
          <a:prstGeom prst="ellipse">
            <a:avLst/>
          </a:prstGeom>
          <a:solidFill>
            <a:srgbClr val="FFFFFF"/>
          </a:solidFill>
          <a:ln cap="flat" cmpd="sng" w="89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2175" lIns="64375" spcFirstLastPara="1" rIns="64375" wrap="square" tIns="32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895085" y="1618673"/>
            <a:ext cx="463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175" lIns="64375" spcFirstLastPara="1" rIns="64375" wrap="square" tIns="32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1338"/>
              <a:buFont typeface="Calibri"/>
              <a:buNone/>
            </a:pPr>
            <a:r>
              <a:rPr b="1" lang="en-US" sz="1338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1807701" y="2172450"/>
            <a:ext cx="2638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175" lIns="64375" spcFirstLastPara="1" rIns="64375" wrap="square" tIns="32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1  —  Fast Path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807576" y="2584550"/>
            <a:ext cx="26388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2175" lIns="64375" spcFirstLastPara="1" rIns="64375" wrap="square" tIns="32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E8F4"/>
              </a:buClr>
              <a:buSzPts val="775"/>
              <a:buFont typeface="Calibri"/>
              <a:buNone/>
            </a:pPr>
            <a:r>
              <a:rPr b="1" lang="en-US" sz="1200">
                <a:solidFill>
                  <a:srgbClr val="C5E8F4"/>
                </a:solidFill>
                <a:latin typeface="Calibri"/>
                <a:ea typeface="Calibri"/>
                <a:cs typeface="Calibri"/>
                <a:sym typeface="Calibri"/>
              </a:rPr>
              <a:t>DenseNet-121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E8F4"/>
              </a:buClr>
              <a:buSzPts val="775"/>
              <a:buFont typeface="Calibri"/>
              <a:buNone/>
            </a:pPr>
            <a:r>
              <a:rPr lang="en-US" sz="1200">
                <a:solidFill>
                  <a:srgbClr val="C5E8F4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1200">
                <a:solidFill>
                  <a:srgbClr val="C5E8F4"/>
                </a:solidFill>
                <a:latin typeface="Courier New"/>
                <a:ea typeface="Courier New"/>
                <a:cs typeface="Courier New"/>
                <a:sym typeface="Courier New"/>
              </a:rPr>
              <a:t>top_score</a:t>
            </a:r>
            <a:r>
              <a:rPr lang="en-US" sz="1200">
                <a:solidFill>
                  <a:srgbClr val="C5E8F4"/>
                </a:solidFill>
                <a:latin typeface="Calibri"/>
                <a:ea typeface="Calibri"/>
                <a:cs typeface="Calibri"/>
                <a:sym typeface="Calibri"/>
              </a:rPr>
              <a:t> &gt;= 0.35 </a:t>
            </a:r>
            <a:endParaRPr sz="1200">
              <a:solidFill>
                <a:srgbClr val="C5E8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E8F4"/>
              </a:buClr>
              <a:buSzPts val="775"/>
              <a:buFont typeface="Calibri"/>
              <a:buNone/>
            </a:pPr>
            <a:r>
              <a:rPr lang="en-US" sz="1200">
                <a:solidFill>
                  <a:srgbClr val="C5E8F4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E8F4"/>
              </a:buClr>
              <a:buSzPts val="775"/>
              <a:buFont typeface="Calibri"/>
              <a:buNone/>
            </a:pPr>
            <a:r>
              <a:rPr lang="en-US" sz="1200">
                <a:solidFill>
                  <a:srgbClr val="C5E8F4"/>
                </a:solidFill>
                <a:latin typeface="Courier New"/>
                <a:ea typeface="Courier New"/>
                <a:cs typeface="Courier New"/>
                <a:sym typeface="Courier New"/>
              </a:rPr>
              <a:t>margin</a:t>
            </a:r>
            <a:r>
              <a:rPr lang="en-US" sz="1200">
                <a:solidFill>
                  <a:srgbClr val="C5E8F4"/>
                </a:solidFill>
                <a:latin typeface="Calibri"/>
                <a:ea typeface="Calibri"/>
                <a:cs typeface="Calibri"/>
                <a:sym typeface="Calibri"/>
              </a:rPr>
              <a:t> &gt;= 0.10, return immediately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620279" y="1541400"/>
            <a:ext cx="2812500" cy="2060700"/>
          </a:xfrm>
          <a:prstGeom prst="rect">
            <a:avLst/>
          </a:prstGeom>
          <a:solidFill>
            <a:srgbClr val="0A6585"/>
          </a:solidFill>
          <a:ln cap="flat" cmpd="sng" w="8950">
            <a:solidFill>
              <a:srgbClr val="7ECA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2175" lIns="64375" spcFirstLastPara="1" rIns="64375" wrap="square" tIns="32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794624" y="1618673"/>
            <a:ext cx="463800" cy="463800"/>
          </a:xfrm>
          <a:prstGeom prst="ellipse">
            <a:avLst/>
          </a:prstGeom>
          <a:solidFill>
            <a:srgbClr val="FFFFFF"/>
          </a:solidFill>
          <a:ln cap="flat" cmpd="sng" w="89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2175" lIns="64375" spcFirstLastPara="1" rIns="64375" wrap="square" tIns="321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6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794624" y="1618673"/>
            <a:ext cx="4638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175" lIns="64375" spcFirstLastPara="1" rIns="64375" wrap="square" tIns="32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6585"/>
              </a:buClr>
              <a:buSzPts val="1338"/>
              <a:buFont typeface="Calibri"/>
              <a:buNone/>
            </a:pPr>
            <a:r>
              <a:rPr b="1" lang="en-US" sz="1338">
                <a:solidFill>
                  <a:srgbClr val="0A658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3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5153987" y="2172443"/>
            <a:ext cx="17451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2175" lIns="64375" spcFirstLastPara="1" rIns="64375" wrap="square" tIns="32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2  —  Ensemble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697519" y="2584550"/>
            <a:ext cx="26388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2175" lIns="64375" spcFirstLastPara="1" rIns="64375" wrap="square" tIns="32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E8F4"/>
              </a:buClr>
              <a:buSzPts val="775"/>
              <a:buFont typeface="Calibri"/>
              <a:buNone/>
            </a:pPr>
            <a:r>
              <a:rPr lang="en-US" sz="1200">
                <a:solidFill>
                  <a:srgbClr val="C5E8F4"/>
                </a:solidFill>
                <a:latin typeface="Calibri"/>
                <a:ea typeface="Calibri"/>
                <a:cs typeface="Calibri"/>
                <a:sym typeface="Calibri"/>
              </a:rPr>
              <a:t>+ ResNet-50 </a:t>
            </a:r>
            <a:endParaRPr sz="1200">
              <a:solidFill>
                <a:srgbClr val="C5E8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E8F4"/>
              </a:buClr>
              <a:buSzPts val="775"/>
              <a:buFont typeface="Calibri"/>
              <a:buNone/>
            </a:pPr>
            <a:r>
              <a:rPr lang="en-US" sz="1200">
                <a:solidFill>
                  <a:srgbClr val="C5E8F4"/>
                </a:solidFill>
                <a:latin typeface="Calibri"/>
                <a:ea typeface="Calibri"/>
                <a:cs typeface="Calibri"/>
                <a:sym typeface="Calibri"/>
              </a:rPr>
              <a:t>+  MedCLIP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E8F4"/>
              </a:buClr>
              <a:buSzPts val="775"/>
              <a:buFont typeface="Calibri"/>
              <a:buNone/>
            </a:pPr>
            <a:r>
              <a:rPr lang="en-US" sz="1200">
                <a:solidFill>
                  <a:srgbClr val="C5E8F4"/>
                </a:solidFill>
                <a:latin typeface="Calibri"/>
                <a:ea typeface="Calibri"/>
                <a:cs typeface="Calibri"/>
                <a:sym typeface="Calibri"/>
              </a:rPr>
              <a:t>Label alignment + Weighted score fusion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5E8F4"/>
              </a:buClr>
              <a:buSzPts val="775"/>
              <a:buFont typeface="Calibri"/>
              <a:buNone/>
            </a:pPr>
            <a:r>
              <a:rPr b="1" lang="en-US" sz="1100">
                <a:solidFill>
                  <a:srgbClr val="B4A7D6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-US" sz="1100">
                <a:solidFill>
                  <a:srgbClr val="B4A7D6"/>
                </a:solidFill>
                <a:latin typeface="Calibri"/>
                <a:ea typeface="Calibri"/>
                <a:cs typeface="Calibri"/>
                <a:sym typeface="Calibri"/>
              </a:rPr>
              <a:t>Triggered only on low-confidence cases)</a:t>
            </a:r>
            <a:endParaRPr b="1" sz="1100">
              <a:solidFill>
                <a:srgbClr val="B4A7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711125" y="3707425"/>
            <a:ext cx="5721600" cy="989400"/>
          </a:xfrm>
          <a:prstGeom prst="rect">
            <a:avLst/>
          </a:prstGeom>
          <a:solidFill>
            <a:srgbClr val="92400E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1807702" y="3996321"/>
            <a:ext cx="411600" cy="4116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1807702" y="3996321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4A62"/>
              </a:buClr>
              <a:buSzPts val="1900"/>
              <a:buFont typeface="Calibri"/>
              <a:buNone/>
            </a:pPr>
            <a:r>
              <a:rPr b="1" lang="en-US" sz="19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900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2219297" y="4039074"/>
            <a:ext cx="14670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Agentic Integration</a:t>
            </a:r>
            <a:endParaRPr sz="1250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896525" y="3848725"/>
            <a:ext cx="32577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E8F4"/>
              </a:buClr>
              <a:buSzPts val="1100"/>
              <a:buFont typeface="Calibri"/>
              <a:buNone/>
            </a:pPr>
            <a:r>
              <a:rPr b="1" lang="en-US" sz="13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LLM Orchestrator</a:t>
            </a:r>
            <a:r>
              <a:rPr lang="en-US" sz="13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reads</a:t>
            </a:r>
            <a:r>
              <a:rPr lang="en-US" sz="13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Stage 1 result and invokes Stage 2 depending on the confidence scores and margins</a:t>
            </a:r>
            <a:endParaRPr sz="1300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5"/>
          <p:cNvCxnSpPr/>
          <p:nvPr/>
        </p:nvCxnSpPr>
        <p:spPr>
          <a:xfrm>
            <a:off x="3767500" y="3853825"/>
            <a:ext cx="0" cy="700800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57200" y="45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Two-Stage Inference Flow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20040" y="1170432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SKILL.md  —  Routing Rule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20050" y="1572774"/>
            <a:ext cx="4846200" cy="120240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11485" y="1619318"/>
            <a:ext cx="4663500" cy="11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CXR / DICOM uploaded → call </a:t>
            </a:r>
            <a:r>
              <a:rPr b="1" lang="en-US" sz="105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@cxr_classification_tool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(Stage 1)</a:t>
            </a: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Review result:</a:t>
            </a: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 If </a:t>
            </a:r>
            <a:r>
              <a:rPr lang="en-US" sz="105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top_score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≥ 0.35 AND </a:t>
            </a:r>
            <a:r>
              <a:rPr lang="en-US" sz="105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margin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≥ 0.10 → </a:t>
            </a:r>
            <a:r>
              <a:rPr b="1" lang="en-US" sz="10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confident, report.</a:t>
            </a:r>
            <a:br>
              <a:rPr b="1" lang="en-US" sz="10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 If </a:t>
            </a:r>
            <a:r>
              <a:rPr lang="en-US" sz="105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top_score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&lt; 0.35  OR  </a:t>
            </a:r>
            <a:r>
              <a:rPr lang="en-US" sz="105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margin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&lt; 0.10  → </a:t>
            </a: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uncertain,</a:t>
            </a: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call </a:t>
            </a:r>
            <a:r>
              <a:rPr b="1" lang="en-US" sz="105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@cxr_ensemble_tool</a:t>
            </a: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20050" y="2869899"/>
            <a:ext cx="4846200" cy="723900"/>
          </a:xfrm>
          <a:prstGeom prst="rect">
            <a:avLst/>
          </a:prstGeom>
          <a:solidFill>
            <a:srgbClr val="FFF9E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11475" y="2869899"/>
            <a:ext cx="47091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Current implementation: </a:t>
            </a:r>
            <a:endParaRPr b="1" sz="1000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Stage 2 trigger still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hard coded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in Python due to lack of API Key. SKILL.md routing rule added chat.py agentic loop is the remaining next step.</a:t>
            </a:r>
            <a:endParaRPr b="1" sz="1000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20040" y="3602576"/>
            <a:ext cx="484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Plugins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320040" y="3883007"/>
            <a:ext cx="4846200" cy="347400"/>
          </a:xfrm>
          <a:prstGeom prst="rect">
            <a:avLst/>
          </a:prstGeom>
          <a:solidFill>
            <a:srgbClr val="EDF6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20040" y="3883007"/>
            <a:ext cx="73200" cy="347400"/>
          </a:xfrm>
          <a:prstGeom prst="rect">
            <a:avLst/>
          </a:prstGeom>
          <a:solidFill>
            <a:srgbClr val="0D7490"/>
          </a:solidFill>
          <a:ln cap="flat" cmpd="sng" w="12700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02920" y="3919583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0D7490"/>
                </a:solidFill>
                <a:latin typeface="Consolas"/>
                <a:ea typeface="Consolas"/>
                <a:cs typeface="Consolas"/>
                <a:sym typeface="Consolas"/>
              </a:rPr>
              <a:t>cxr_classification_tool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2986925" y="3937864"/>
            <a:ext cx="2088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TXV DenseNet-121  (tool.json + logic.py)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20040" y="4267055"/>
            <a:ext cx="4846200" cy="347400"/>
          </a:xfrm>
          <a:prstGeom prst="rect">
            <a:avLst/>
          </a:prstGeom>
          <a:solidFill>
            <a:srgbClr val="EDF6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20040" y="4267055"/>
            <a:ext cx="73200" cy="3474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502920" y="4303631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0891B2"/>
                </a:solidFill>
                <a:latin typeface="Consolas"/>
                <a:ea typeface="Consolas"/>
                <a:cs typeface="Consolas"/>
                <a:sym typeface="Consolas"/>
              </a:rPr>
              <a:t>cxr_classifier_tool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2986925" y="4321914"/>
            <a:ext cx="2088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MedCLIP / BiomedCLIP  (tool.json + logic.py)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20040" y="4651103"/>
            <a:ext cx="4846200" cy="347400"/>
          </a:xfrm>
          <a:prstGeom prst="rect">
            <a:avLst/>
          </a:prstGeom>
          <a:solidFill>
            <a:srgbClr val="EDF6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20040" y="4651103"/>
            <a:ext cx="73200" cy="3474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02920" y="4687679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065A82"/>
                </a:solidFill>
                <a:latin typeface="Consolas"/>
                <a:ea typeface="Consolas"/>
                <a:cs typeface="Consolas"/>
                <a:sym typeface="Consolas"/>
              </a:rPr>
              <a:t>cxr_ensemble_tool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2986925" y="4705964"/>
            <a:ext cx="2088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2-stage orchestrator  (tool.json + logic.py)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394950" y="1572775"/>
            <a:ext cx="3429000" cy="340950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394950" y="1651949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cxr_ensemble_tool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5577850" y="2035827"/>
            <a:ext cx="3063300" cy="347400"/>
          </a:xfrm>
          <a:prstGeom prst="rect">
            <a:avLst/>
          </a:prstGeom>
          <a:solidFill>
            <a:srgbClr val="0D7490"/>
          </a:solidFill>
          <a:ln cap="flat" cmpd="sng" w="12700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577850" y="2017527"/>
            <a:ext cx="3063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Stage 1  :  DenseNet-121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577840" y="2411661"/>
            <a:ext cx="3063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top_score</a:t>
            </a:r>
            <a:r>
              <a:rPr i="1"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≥</a:t>
            </a:r>
            <a:r>
              <a:rPr i="1"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0.35  AND  </a:t>
            </a:r>
            <a:r>
              <a:rPr i="1" lang="en-US" sz="10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margin</a:t>
            </a:r>
            <a:r>
              <a:rPr i="1"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≥</a:t>
            </a:r>
            <a:r>
              <a:rPr i="1"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0.10 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6"/>
          <p:cNvGrpSpPr/>
          <p:nvPr/>
        </p:nvGrpSpPr>
        <p:grpSpPr>
          <a:xfrm>
            <a:off x="5577851" y="2840072"/>
            <a:ext cx="1509900" cy="350078"/>
            <a:chOff x="5577851" y="2921097"/>
            <a:chExt cx="1509900" cy="350078"/>
          </a:xfrm>
        </p:grpSpPr>
        <p:sp>
          <p:nvSpPr>
            <p:cNvPr id="215" name="Google Shape;215;p6"/>
            <p:cNvSpPr/>
            <p:nvPr/>
          </p:nvSpPr>
          <p:spPr>
            <a:xfrm>
              <a:off x="5577851" y="2923775"/>
              <a:ext cx="1509900" cy="347400"/>
            </a:xfrm>
            <a:prstGeom prst="rect">
              <a:avLst/>
            </a:prstGeom>
            <a:solidFill>
              <a:srgbClr val="059669"/>
            </a:solidFill>
            <a:ln cap="flat" cmpd="sng" w="12700">
              <a:solidFill>
                <a:srgbClr val="0596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6"/>
            <p:cNvSpPr/>
            <p:nvPr/>
          </p:nvSpPr>
          <p:spPr>
            <a:xfrm>
              <a:off x="5624190" y="2921097"/>
              <a:ext cx="14172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YES  →  return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6"/>
          <p:cNvSpPr/>
          <p:nvPr/>
        </p:nvSpPr>
        <p:spPr>
          <a:xfrm>
            <a:off x="7131100" y="2842775"/>
            <a:ext cx="1509900" cy="347400"/>
          </a:xfrm>
          <a:prstGeom prst="rect">
            <a:avLst/>
          </a:prstGeom>
          <a:noFill/>
          <a:ln cap="flat" cmpd="sng" w="285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NO  →  Stage 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6"/>
          <p:cNvGrpSpPr/>
          <p:nvPr/>
        </p:nvGrpSpPr>
        <p:grpSpPr>
          <a:xfrm>
            <a:off x="5577800" y="3566701"/>
            <a:ext cx="3063300" cy="345927"/>
            <a:chOff x="5577850" y="3303888"/>
            <a:chExt cx="3063300" cy="345927"/>
          </a:xfrm>
        </p:grpSpPr>
        <p:sp>
          <p:nvSpPr>
            <p:cNvPr id="219" name="Google Shape;219;p6"/>
            <p:cNvSpPr/>
            <p:nvPr/>
          </p:nvSpPr>
          <p:spPr>
            <a:xfrm>
              <a:off x="5577850" y="3303888"/>
              <a:ext cx="3063300" cy="345927"/>
            </a:xfrm>
            <a:prstGeom prst="rect">
              <a:avLst/>
            </a:prstGeom>
            <a:solidFill>
              <a:srgbClr val="0891B2"/>
            </a:solidFill>
            <a:ln cap="flat" cmpd="sng" w="12700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6"/>
            <p:cNvSpPr/>
            <p:nvPr/>
          </p:nvSpPr>
          <p:spPr>
            <a:xfrm>
              <a:off x="5577850" y="3303908"/>
              <a:ext cx="3063300" cy="34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Stage 2  :  +ResNet-50  +  MedCLIP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1" name="Google Shape;221;p6"/>
          <p:cNvCxnSpPr>
            <a:stCxn id="220" idx="2"/>
            <a:endCxn id="222" idx="0"/>
          </p:cNvCxnSpPr>
          <p:nvPr/>
        </p:nvCxnSpPr>
        <p:spPr>
          <a:xfrm>
            <a:off x="7109450" y="3912621"/>
            <a:ext cx="0" cy="646800"/>
          </a:xfrm>
          <a:prstGeom prst="straightConnector1">
            <a:avLst/>
          </a:prstGeom>
          <a:noFill/>
          <a:ln cap="flat" cmpd="sng" w="28575">
            <a:solidFill>
              <a:srgbClr val="1B3A4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6"/>
          <p:cNvSpPr/>
          <p:nvPr/>
        </p:nvSpPr>
        <p:spPr>
          <a:xfrm>
            <a:off x="5577850" y="3997801"/>
            <a:ext cx="3063300" cy="237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1" i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Label Alignment  →  Weighted Score Fusion</a:t>
            </a:r>
            <a:endParaRPr b="1"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" name="Google Shape;224;p6"/>
          <p:cNvGrpSpPr/>
          <p:nvPr/>
        </p:nvGrpSpPr>
        <p:grpSpPr>
          <a:xfrm>
            <a:off x="5577868" y="4559525"/>
            <a:ext cx="3063307" cy="345943"/>
            <a:chOff x="5577840" y="4268802"/>
            <a:chExt cx="3063307" cy="530424"/>
          </a:xfrm>
        </p:grpSpPr>
        <p:sp>
          <p:nvSpPr>
            <p:cNvPr id="225" name="Google Shape;225;p6"/>
            <p:cNvSpPr/>
            <p:nvPr/>
          </p:nvSpPr>
          <p:spPr>
            <a:xfrm>
              <a:off x="5577840" y="4268826"/>
              <a:ext cx="3063300" cy="530400"/>
            </a:xfrm>
            <a:prstGeom prst="rect">
              <a:avLst/>
            </a:prstGeom>
            <a:solidFill>
              <a:srgbClr val="1B3A4B"/>
            </a:solidFill>
            <a:ln cap="flat" cmpd="sng" w="12700">
              <a:solidFill>
                <a:srgbClr val="1B3A4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5577847" y="4268802"/>
              <a:ext cx="30633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50"/>
                <a:buFont typeface="Calibri"/>
                <a:buNone/>
              </a:pPr>
              <a:r>
                <a:rPr b="1" lang="en-US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Structured JSON  →  CxrEnsembleCard (UI)</a:t>
              </a:r>
              <a:endParaRPr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6" name="Google Shape;226;p6"/>
          <p:cNvCxnSpPr>
            <a:stCxn id="217" idx="2"/>
            <a:endCxn id="220" idx="0"/>
          </p:cNvCxnSpPr>
          <p:nvPr/>
        </p:nvCxnSpPr>
        <p:spPr>
          <a:xfrm rot="5400000">
            <a:off x="7309450" y="2990075"/>
            <a:ext cx="376500" cy="7767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rgbClr val="DC262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57200" y="45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Agentic Design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LLM-Orchestrated Ensemble — Design Intent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74320" y="1143000"/>
            <a:ext cx="4160520" cy="3639312"/>
          </a:xfrm>
          <a:prstGeom prst="rect">
            <a:avLst/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274320" y="1143000"/>
            <a:ext cx="4160520" cy="438912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84048" y="1143000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 —  Python Deterministic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38912" y="1719072"/>
            <a:ext cx="38404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02920" y="1719072"/>
            <a:ext cx="3712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DICOM upload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38912" y="2286000"/>
            <a:ext cx="3840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438912" y="2432304"/>
            <a:ext cx="38404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02920" y="2432304"/>
            <a:ext cx="3712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workflows.py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_attach_cxr_ensemble_result()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438912" y="2999232"/>
            <a:ext cx="3840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38912" y="3145536"/>
            <a:ext cx="38404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02920" y="3145536"/>
            <a:ext cx="3712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cxr_ensemble_tool.execute()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_is_low_confidence() ← Python if-else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38912" y="3712464"/>
            <a:ext cx="3840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38912" y="3858768"/>
            <a:ext cx="38404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02920" y="3858768"/>
            <a:ext cx="3712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Stage 2 auto-runs if threshold met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206240" y="2560320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709160" y="1143000"/>
            <a:ext cx="4160520" cy="3639312"/>
          </a:xfrm>
          <a:prstGeom prst="rect">
            <a:avLst/>
          </a:prstGeom>
          <a:solidFill>
            <a:srgbClr val="F0FDF4"/>
          </a:solidFill>
          <a:ln cap="flat" cmpd="sng" w="1905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709160" y="1143000"/>
            <a:ext cx="4160520" cy="43891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4818888" y="1143000"/>
            <a:ext cx="3931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 Intent  —  LLM Orchestrated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4873752" y="1719072"/>
            <a:ext cx="38404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937760" y="1719072"/>
            <a:ext cx="3712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3A4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B3A4B"/>
                </a:solidFill>
                <a:latin typeface="Calibri"/>
                <a:ea typeface="Calibri"/>
                <a:cs typeface="Calibri"/>
                <a:sym typeface="Calibri"/>
              </a:rPr>
              <a:t>DICOM upload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873752" y="2286000"/>
            <a:ext cx="3840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873752" y="2432304"/>
            <a:ext cx="38404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937760" y="2432304"/>
            <a:ext cx="3712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workflows.py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_attach_cxr_classification_result()  (Stage 1 only)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873752" y="2999232"/>
            <a:ext cx="3840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873752" y="3145536"/>
            <a:ext cx="38404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937760" y="3145536"/>
            <a:ext cx="3712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LLM reads: top_score=0.31, margin=0.04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SKILL.md: "uncertain → call Stage 2"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4873752" y="3712464"/>
            <a:ext cx="384048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873752" y="3858768"/>
            <a:ext cx="3840480" cy="548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937760" y="3858768"/>
            <a:ext cx="37124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LLM calls cxr_ensemble_tool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+ synthesizes clinical explanation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274320" y="4828032"/>
            <a:ext cx="8595360" cy="155448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57200" y="45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 Alignment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274320" y="1170432"/>
            <a:ext cx="2743200" cy="3657600"/>
          </a:xfrm>
          <a:prstGeom prst="rect">
            <a:avLst/>
          </a:prstGeom>
          <a:solidFill>
            <a:srgbClr val="EAF6FA"/>
          </a:solidFill>
          <a:ln cap="flat" cmpd="sng" w="12700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274320" y="1170432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TorchXrayVision Labels  (18)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411480" y="1645920"/>
            <a:ext cx="2468880" cy="246888"/>
          </a:xfrm>
          <a:prstGeom prst="rect">
            <a:avLst/>
          </a:prstGeom>
          <a:solidFill>
            <a:srgbClr val="D6EEF5"/>
          </a:solidFill>
          <a:ln cap="flat" cmpd="sng" w="9525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411480" y="1645920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Effusion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11480" y="1929384"/>
            <a:ext cx="2468880" cy="246888"/>
          </a:xfrm>
          <a:prstGeom prst="rect">
            <a:avLst/>
          </a:prstGeom>
          <a:solidFill>
            <a:srgbClr val="D6EEF5"/>
          </a:solidFill>
          <a:ln cap="flat" cmpd="sng" w="9525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11480" y="1929384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Infiltration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11480" y="2212848"/>
            <a:ext cx="2468880" cy="246888"/>
          </a:xfrm>
          <a:prstGeom prst="rect">
            <a:avLst/>
          </a:prstGeom>
          <a:solidFill>
            <a:srgbClr val="D6EEF5"/>
          </a:solidFill>
          <a:ln cap="flat" cmpd="sng" w="9525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11480" y="2212848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Nodule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11480" y="2496312"/>
            <a:ext cx="2468880" cy="246888"/>
          </a:xfrm>
          <a:prstGeom prst="rect">
            <a:avLst/>
          </a:prstGeom>
          <a:solidFill>
            <a:srgbClr val="D6EEF5"/>
          </a:solidFill>
          <a:ln cap="flat" cmpd="sng" w="9525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11480" y="2496312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11480" y="2779776"/>
            <a:ext cx="2468880" cy="246888"/>
          </a:xfrm>
          <a:prstGeom prst="rect">
            <a:avLst/>
          </a:prstGeom>
          <a:solidFill>
            <a:srgbClr val="D6EEF5"/>
          </a:solidFill>
          <a:ln cap="flat" cmpd="sng" w="9525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11480" y="2779776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Cardiomegaly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11480" y="3063240"/>
            <a:ext cx="2468880" cy="246888"/>
          </a:xfrm>
          <a:prstGeom prst="rect">
            <a:avLst/>
          </a:prstGeom>
          <a:solidFill>
            <a:srgbClr val="D6EEF5"/>
          </a:solidFill>
          <a:ln cap="flat" cmpd="sng" w="9525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11480" y="3063240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Atelectasis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411480" y="3346704"/>
            <a:ext cx="2468880" cy="246888"/>
          </a:xfrm>
          <a:prstGeom prst="rect">
            <a:avLst/>
          </a:prstGeom>
          <a:solidFill>
            <a:srgbClr val="D6EEF5"/>
          </a:solidFill>
          <a:ln cap="flat" cmpd="sng" w="9525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11480" y="3346704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Pneumothorax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11480" y="3630168"/>
            <a:ext cx="2468880" cy="246888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11480" y="3630168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Emphysema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11480" y="3913632"/>
            <a:ext cx="2468880" cy="246888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411480" y="3913632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Fibrosis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11480" y="4197096"/>
            <a:ext cx="2468880" cy="246888"/>
          </a:xfrm>
          <a:prstGeom prst="rect">
            <a:avLst/>
          </a:prstGeom>
          <a:solidFill>
            <a:srgbClr val="F1F5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11480" y="4197096"/>
            <a:ext cx="24688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Hernia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126535" y="1170432"/>
            <a:ext cx="2743200" cy="365760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3126535" y="1170432"/>
            <a:ext cx="2743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MedCLIP Labels  (14)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263695" y="1645920"/>
            <a:ext cx="2469000" cy="2469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3263695" y="1645920"/>
            <a:ext cx="246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Pleural Effusion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263695" y="1929384"/>
            <a:ext cx="2469000" cy="2469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3263695" y="1929384"/>
            <a:ext cx="246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Lung Opacity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3263695" y="2212848"/>
            <a:ext cx="2469000" cy="2469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3263695" y="2212848"/>
            <a:ext cx="246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Lung Lesion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3263695" y="2496312"/>
            <a:ext cx="2469000" cy="2469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3263695" y="2496312"/>
            <a:ext cx="246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Cardiomegaly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3263695" y="2779776"/>
            <a:ext cx="2469000" cy="2469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3263695" y="2779776"/>
            <a:ext cx="246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Atelectasis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3263695" y="3063240"/>
            <a:ext cx="2469000" cy="2469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3263695" y="3063240"/>
            <a:ext cx="246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Pneumothorax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3263695" y="3346704"/>
            <a:ext cx="2469000" cy="2469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3263695" y="3346704"/>
            <a:ext cx="246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Consolidation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3263695" y="3630168"/>
            <a:ext cx="2469000" cy="2469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3263695" y="3630168"/>
            <a:ext cx="246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Pneumonia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263695" y="3913632"/>
            <a:ext cx="2469000" cy="2469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263695" y="3913632"/>
            <a:ext cx="246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Edema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3263695" y="4197096"/>
            <a:ext cx="2469000" cy="246900"/>
          </a:xfrm>
          <a:prstGeom prst="rect">
            <a:avLst/>
          </a:prstGeom>
          <a:solidFill>
            <a:srgbClr val="FEF3C7"/>
          </a:solidFill>
          <a:ln cap="flat" cmpd="sng" w="9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3263695" y="4197096"/>
            <a:ext cx="2469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Enlarged Cardiomediastinum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7" name="Google Shape;317;p8"/>
          <p:cNvGrpSpPr/>
          <p:nvPr/>
        </p:nvGrpSpPr>
        <p:grpSpPr>
          <a:xfrm>
            <a:off x="7051240" y="1170432"/>
            <a:ext cx="1874520" cy="3657600"/>
            <a:chOff x="6949440" y="1170432"/>
            <a:chExt cx="1874520" cy="3657600"/>
          </a:xfrm>
        </p:grpSpPr>
        <p:sp>
          <p:nvSpPr>
            <p:cNvPr id="318" name="Google Shape;318;p8"/>
            <p:cNvSpPr/>
            <p:nvPr/>
          </p:nvSpPr>
          <p:spPr>
            <a:xfrm>
              <a:off x="6949440" y="1170432"/>
              <a:ext cx="1874520" cy="3657600"/>
            </a:xfrm>
            <a:prstGeom prst="rect">
              <a:avLst/>
            </a:prstGeom>
            <a:solidFill>
              <a:srgbClr val="F8FB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8100000" dist="25400">
                <a:srgbClr val="000000">
                  <a:alpha val="784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6995160" y="1216152"/>
              <a:ext cx="1783080" cy="347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000"/>
                <a:buFont typeface="Calibri"/>
                <a:buNone/>
              </a:pPr>
              <a:r>
                <a:rPr b="1" lang="en-US" sz="1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Alignment </a:t>
              </a:r>
              <a:r>
                <a:rPr b="1" lang="en-US" sz="1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Mapping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7022592" y="1664208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7490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0D7490"/>
                  </a:solidFill>
                  <a:latin typeface="Calibri"/>
                  <a:ea typeface="Calibri"/>
                  <a:cs typeface="Calibri"/>
                  <a:sym typeface="Calibri"/>
                </a:rPr>
                <a:t>Effusion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8"/>
            <p:cNvSpPr/>
            <p:nvPr/>
          </p:nvSpPr>
          <p:spPr>
            <a:xfrm>
              <a:off x="7022592" y="1901952"/>
              <a:ext cx="1737360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2400E"/>
                </a:buClr>
                <a:buSzPts val="900"/>
                <a:buFont typeface="Calibri"/>
                <a:buNone/>
              </a:pPr>
              <a:r>
                <a:rPr b="1" i="1" lang="en-US" sz="9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1" i="1" lang="en-US" sz="9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  Pleural Effusion</a:t>
              </a:r>
              <a:endParaRPr b="1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7022592" y="2185416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7490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0D7490"/>
                  </a:solidFill>
                  <a:latin typeface="Calibri"/>
                  <a:ea typeface="Calibri"/>
                  <a:cs typeface="Calibri"/>
                  <a:sym typeface="Calibri"/>
                </a:rPr>
                <a:t>Infiltration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8"/>
            <p:cNvSpPr/>
            <p:nvPr/>
          </p:nvSpPr>
          <p:spPr>
            <a:xfrm>
              <a:off x="7022592" y="2423160"/>
              <a:ext cx="1737360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2400E"/>
                </a:buClr>
                <a:buSzPts val="900"/>
                <a:buFont typeface="Calibri"/>
                <a:buNone/>
              </a:pPr>
              <a:r>
                <a:rPr b="1" i="1" lang="en-US" sz="9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1" i="1" lang="en-US" sz="9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  Lung Opacity</a:t>
              </a:r>
              <a:endParaRPr b="1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7022592" y="2706624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D7490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0D7490"/>
                  </a:solidFill>
                  <a:latin typeface="Calibri"/>
                  <a:ea typeface="Calibri"/>
                  <a:cs typeface="Calibri"/>
                  <a:sym typeface="Calibri"/>
                </a:rPr>
                <a:t>Nodule/Mass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7022592" y="2944368"/>
              <a:ext cx="1737360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2400E"/>
                </a:buClr>
                <a:buSzPts val="900"/>
                <a:buFont typeface="Calibri"/>
                <a:buNone/>
              </a:pPr>
              <a:r>
                <a:rPr b="1" i="1" lang="en-US" sz="9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r>
                <a:rPr b="1" i="1" lang="en-US" sz="9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  Lung Lesion</a:t>
              </a:r>
              <a:endParaRPr b="1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7022592" y="3227832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</a:rPr>
                <a:t>Emphysema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8"/>
            <p:cNvSpPr/>
            <p:nvPr/>
          </p:nvSpPr>
          <p:spPr>
            <a:xfrm>
              <a:off x="7022592" y="3465576"/>
              <a:ext cx="1737360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C2626"/>
                </a:buClr>
                <a:buSzPts val="900"/>
                <a:buFont typeface="Calibri"/>
                <a:buNone/>
              </a:pPr>
              <a:r>
                <a:rPr b="1" i="1" lang="en-US" sz="90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x  (excluded)</a:t>
              </a:r>
              <a:endParaRPr b="1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7022592" y="3749040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</a:rPr>
                <a:t>Fibrosis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8"/>
            <p:cNvSpPr/>
            <p:nvPr/>
          </p:nvSpPr>
          <p:spPr>
            <a:xfrm>
              <a:off x="7022592" y="3986784"/>
              <a:ext cx="1737360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C2626"/>
                </a:buClr>
                <a:buSzPts val="900"/>
                <a:buFont typeface="Calibri"/>
                <a:buNone/>
              </a:pPr>
              <a:r>
                <a:rPr b="1" i="1" lang="en-US" sz="90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x  (excluded)</a:t>
              </a:r>
              <a:endParaRPr b="1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7022592" y="4270248"/>
              <a:ext cx="1737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</a:rPr>
                <a:t>Hernia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7022592" y="4507992"/>
              <a:ext cx="1737360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C2626"/>
                </a:buClr>
                <a:buSzPts val="900"/>
                <a:buFont typeface="Calibri"/>
                <a:buNone/>
              </a:pPr>
              <a:r>
                <a:rPr b="1" i="1" lang="en-US" sz="90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x  (excluded)</a:t>
              </a:r>
              <a:endParaRPr b="1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8"/>
          <p:cNvSpPr/>
          <p:nvPr/>
        </p:nvSpPr>
        <p:spPr>
          <a:xfrm>
            <a:off x="6048438" y="2816575"/>
            <a:ext cx="824100" cy="41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D4F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 txBox="1"/>
          <p:nvPr/>
        </p:nvSpPr>
        <p:spPr>
          <a:xfrm>
            <a:off x="6024138" y="2212849"/>
            <a:ext cx="87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D4F65"/>
                </a:solidFill>
                <a:latin typeface="Calibri"/>
                <a:ea typeface="Calibri"/>
                <a:cs typeface="Calibri"/>
                <a:sym typeface="Calibri"/>
              </a:rPr>
              <a:t>Label</a:t>
            </a:r>
            <a:endParaRPr b="1">
              <a:solidFill>
                <a:srgbClr val="0D4F6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D4F65"/>
                </a:solidFill>
                <a:latin typeface="Calibri"/>
                <a:ea typeface="Calibri"/>
                <a:cs typeface="Calibri"/>
                <a:sym typeface="Calibri"/>
              </a:rPr>
              <a:t>Align</a:t>
            </a:r>
            <a:endParaRPr b="1">
              <a:solidFill>
                <a:srgbClr val="0D4F6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57200" y="45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Contributions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274320" y="1170432"/>
            <a:ext cx="4206240" cy="3611880"/>
          </a:xfrm>
          <a:prstGeom prst="rect">
            <a:avLst/>
          </a:prstGeom>
          <a:solidFill>
            <a:srgbClr val="FFF5F5"/>
          </a:solidFill>
          <a:ln cap="flat" cmpd="sng" w="1905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274320" y="1170432"/>
            <a:ext cx="4206240" cy="47548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384048" y="1170432"/>
            <a:ext cx="39867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[1]  Double-Sigmoid Bug Fix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411480" y="17373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Root Cause: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411480" y="2029968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TXV -all blended models store op_threshs in their weights.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With apply_sigmoid=True, sigmoid was applied twice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-&gt; all label scores collapsed to ~0.75 regardless of input.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411480" y="28346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Fix: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411480" y="312724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Load all models with apply_sigmoid=False.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Apply sigmoid manually only when op_threshs is absent.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411480" y="3685032"/>
            <a:ext cx="3931920" cy="9144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475488" y="3712464"/>
            <a:ext cx="3822192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Before: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Emphysema 0.750, Pneumothorax 0.748 ... (all ~0.75)</a:t>
            </a: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After: 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Cardiomegaly 0.622, Fibrosis 0.540, Hernia 0.013  [OK]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663440" y="1170432"/>
            <a:ext cx="4206240" cy="3611880"/>
          </a:xfrm>
          <a:prstGeom prst="rect">
            <a:avLst/>
          </a:prstGeom>
          <a:solidFill>
            <a:srgbClr val="F0FDF4"/>
          </a:solidFill>
          <a:ln cap="flat" cmpd="sng" w="1905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4663440" y="1170432"/>
            <a:ext cx="4206240" cy="475488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773168" y="1170432"/>
            <a:ext cx="398678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[2]  Softmax-Based Scoring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4800600" y="17373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Motivation: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4800600" y="2029968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"Use softmax and set threshold to C/N — relative probability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produces a more intuitive and interpretable score distribution."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4800600" y="2651760"/>
            <a:ext cx="3931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Threshold: C / N  where N = # valid labels, C = 1.5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Positive if score &gt; 1.5x uniform probability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e.g.  N=18  -&gt;  threshold = 8.3%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4800600" y="3429000"/>
            <a:ext cx="3931920" cy="1170432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4864608" y="3456432"/>
            <a:ext cx="382219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Softmax output:</a:t>
            </a:r>
            <a:br>
              <a:rPr b="1" lang="en-US" sz="105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Cardiomegaly 30.6%  |  Lung Opacity 13.7%  |  Infiltration 12.5%</a:t>
            </a: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Sigmoid output:</a:t>
            </a:r>
            <a:br>
              <a:rPr b="1" lang="en-US" sz="10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Cardiomegaly 0.621  |  Fibrosis 0.540  (values cluster near 0.5)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"/>
          <p:cNvSpPr/>
          <p:nvPr/>
        </p:nvSpPr>
        <p:spPr>
          <a:xfrm>
            <a:off x="274325" y="2285925"/>
            <a:ext cx="5029200" cy="831300"/>
          </a:xfrm>
          <a:prstGeom prst="rect">
            <a:avLst/>
          </a:prstGeom>
          <a:solidFill>
            <a:srgbClr val="EAF6FA"/>
          </a:solidFill>
          <a:ln cap="flat" cmpd="sng" w="12700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457200" y="45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Weighted Score Fusion</a:t>
            </a: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&amp; Output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320040" y="118872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Weighted Score Fusion</a:t>
            </a:r>
            <a:r>
              <a:rPr b="1"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(Stage 2)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320040" y="1627632"/>
            <a:ext cx="1554480" cy="548640"/>
          </a:xfrm>
          <a:prstGeom prst="rect">
            <a:avLst/>
          </a:prstGeom>
          <a:solidFill>
            <a:srgbClr val="0D7490"/>
          </a:solidFill>
          <a:ln cap="flat" cmpd="sng" w="12700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320040" y="162763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DenseNet-121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320040" y="194767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Weight: 0.40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2011680" y="1627632"/>
            <a:ext cx="1554480" cy="5486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2011680" y="162763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ResNet-50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2011680" y="194767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Weight: 0.35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3703320" y="1627632"/>
            <a:ext cx="1554480" cy="5486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3703320" y="162763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MedCLIP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3703320" y="194767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Weight: 0.25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320050" y="2313300"/>
            <a:ext cx="49377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Normalize each model's scores</a:t>
            </a:r>
            <a:b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10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ensemble_score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= Σ(</a:t>
            </a:r>
            <a:r>
              <a:rPr lang="en-US" sz="10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normalized_score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× </a:t>
            </a:r>
            <a:r>
              <a:rPr lang="en-US" sz="10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weight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)   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lang="en-US" sz="10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lang="en-US" sz="1000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 Positive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if </a:t>
            </a:r>
            <a:r>
              <a:rPr lang="en-US" sz="10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ensemble_score</a:t>
            </a: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≥ 0.35</a:t>
            </a:r>
            <a:endParaRPr i="1"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320040" y="3246155"/>
            <a:ext cx="5029200" cy="347400"/>
          </a:xfrm>
          <a:prstGeom prst="rect">
            <a:avLst/>
          </a:prstGeom>
          <a:solidFill>
            <a:srgbClr val="1B3A4B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347472" y="3246155"/>
            <a:ext cx="2103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2560320" y="3246155"/>
            <a:ext cx="822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Ens. Score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3520440" y="3246155"/>
            <a:ext cx="100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Consensus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617720" y="3246155"/>
            <a:ext cx="658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320040" y="3657635"/>
            <a:ext cx="5029200" cy="310800"/>
          </a:xfrm>
          <a:prstGeom prst="rect">
            <a:avLst/>
          </a:prstGeom>
          <a:solidFill>
            <a:srgbClr val="F8FB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384048" y="3657635"/>
            <a:ext cx="210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Pleural Effusion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2560320" y="3657635"/>
            <a:ext cx="822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0.47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4663440" y="3712499"/>
            <a:ext cx="594300" cy="2013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4663440" y="3712499"/>
            <a:ext cx="594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320040" y="3995963"/>
            <a:ext cx="50292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384048" y="3995963"/>
            <a:ext cx="210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Cardiomegaly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2560320" y="3995963"/>
            <a:ext cx="822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0.38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4663440" y="4050827"/>
            <a:ext cx="594300" cy="2013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4663440" y="4050827"/>
            <a:ext cx="594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320040" y="4334291"/>
            <a:ext cx="5029200" cy="310800"/>
          </a:xfrm>
          <a:prstGeom prst="rect">
            <a:avLst/>
          </a:prstGeom>
          <a:solidFill>
            <a:srgbClr val="F8FB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384048" y="4334291"/>
            <a:ext cx="210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Lung Opacity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2560320" y="4334291"/>
            <a:ext cx="822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0.22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4663440" y="4389155"/>
            <a:ext cx="594300" cy="2013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4663440" y="4389155"/>
            <a:ext cx="594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320040" y="4672619"/>
            <a:ext cx="50292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384048" y="4672619"/>
            <a:ext cx="210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Atelectasis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2560320" y="4672619"/>
            <a:ext cx="822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0.19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4663440" y="4727483"/>
            <a:ext cx="594300" cy="2013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4663440" y="4727483"/>
            <a:ext cx="594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5577850" y="1225300"/>
            <a:ext cx="3246000" cy="3852000"/>
          </a:xfrm>
          <a:prstGeom prst="rect">
            <a:avLst/>
          </a:prstGeom>
          <a:solidFill>
            <a:srgbClr val="EDF6F9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5623560" y="1271020"/>
            <a:ext cx="315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Limitations &amp; Future 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5687568" y="1837948"/>
            <a:ext cx="164700" cy="1647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5961888" y="1746508"/>
            <a:ext cx="2761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Softmax underrepresents co-existing pathologies (multi-label tradeoff)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5687568" y="2414020"/>
            <a:ext cx="164700" cy="1647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5961888" y="2322580"/>
            <a:ext cx="2761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Fusion weights (0.40/0.35/0.25) empirical — </a:t>
            </a: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need calibration on validation data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5687568" y="2990092"/>
            <a:ext cx="164700" cy="1647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5961888" y="2898652"/>
            <a:ext cx="2761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Trigger thresholds (0.35/0.10) empirical — held-out CXR set calibration needed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5687568" y="3566164"/>
            <a:ext cx="164700" cy="1647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5961888" y="3474724"/>
            <a:ext cx="2761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SKILL.md routing rule added (77df1ab) —</a:t>
            </a: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 agentic loop (chat.py) is next step</a:t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5687568" y="4142236"/>
            <a:ext cx="164700" cy="1647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5961888" y="4050796"/>
            <a:ext cx="2761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Emphysema / Fibrosis / Hernia excluded — TXV-only labels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3703325" y="3712500"/>
            <a:ext cx="658500" cy="2013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3703325" y="3712500"/>
            <a:ext cx="65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3703325" y="4050713"/>
            <a:ext cx="658500" cy="2013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3703325" y="4050713"/>
            <a:ext cx="65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3703325" y="4389038"/>
            <a:ext cx="658500" cy="2013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3703325" y="4389038"/>
            <a:ext cx="65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Mixed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3703325" y="4727363"/>
            <a:ext cx="658500" cy="2013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3703325" y="4727363"/>
            <a:ext cx="658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5687568" y="4718286"/>
            <a:ext cx="164700" cy="1647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5961888" y="4626871"/>
            <a:ext cx="2761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quantitative benchmark yet —</a:t>
            </a:r>
            <a:b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future: NIH test-set AUC evaluation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4B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457200" y="457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CxrEnsembleCard  —  Studio UI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274320" y="1143000"/>
            <a:ext cx="8595300" cy="3767400"/>
          </a:xfrm>
          <a:prstGeom prst="rect">
            <a:avLst/>
          </a:prstGeom>
          <a:solidFill>
            <a:srgbClr val="F8FB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274320" y="1143000"/>
            <a:ext cx="8595360" cy="475488"/>
          </a:xfrm>
          <a:prstGeom prst="rect">
            <a:avLst/>
          </a:prstGeom>
          <a:solidFill>
            <a:srgbClr val="1B3A4B"/>
          </a:solidFill>
          <a:ln cap="flat" cmpd="sng" w="12700">
            <a:solidFill>
              <a:srgbClr val="1B3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411480" y="1143000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CxrEnsembleCard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3474720" y="1188720"/>
            <a:ext cx="1691640" cy="384048"/>
          </a:xfrm>
          <a:prstGeom prst="rect">
            <a:avLst/>
          </a:prstGeom>
          <a:solidFill>
            <a:srgbClr val="0D4F65"/>
          </a:solidFill>
          <a:ln cap="flat" cmpd="sng" w="12700">
            <a:solidFill>
              <a:srgbClr val="0D4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3474720" y="118872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Stage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3474720" y="1371600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ensemble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5257800" y="1188720"/>
            <a:ext cx="1691640" cy="384048"/>
          </a:xfrm>
          <a:prstGeom prst="rect">
            <a:avLst/>
          </a:prstGeom>
          <a:solidFill>
            <a:srgbClr val="0D4F65"/>
          </a:solidFill>
          <a:ln cap="flat" cmpd="sng" w="12700">
            <a:solidFill>
              <a:srgbClr val="0D4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5257800" y="118872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Top Finding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5257800" y="1371600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Pleural Effusion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7040880" y="1188720"/>
            <a:ext cx="1691640" cy="384048"/>
          </a:xfrm>
          <a:prstGeom prst="rect">
            <a:avLst/>
          </a:prstGeom>
          <a:solidFill>
            <a:srgbClr val="0D4F65"/>
          </a:solidFill>
          <a:ln cap="flat" cmpd="sng" w="12700">
            <a:solidFill>
              <a:srgbClr val="0D4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7040880" y="118872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Models Used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7040880" y="1371600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 (DenseNet + ResNet + MedCLIP)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274320" y="1618488"/>
            <a:ext cx="8595360" cy="347472"/>
          </a:xfrm>
          <a:prstGeom prst="rect">
            <a:avLst/>
          </a:prstGeom>
          <a:solidFill>
            <a:srgbClr val="FFF9E6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411480" y="1618488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⚡ Why ensemble was triggered:  </a:t>
            </a:r>
            <a:r>
              <a:rPr lang="en-US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top_score = 0.31 (&lt; 0.35)  |  margin = 0.04 (&lt; 0.10)  →  DenseNet-121 result was ambiguous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347472" y="205740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Aligned Findings  (all 3 models)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347474" y="2432300"/>
            <a:ext cx="1051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Pleural Effusion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1449255" y="2478024"/>
            <a:ext cx="2377500" cy="237600"/>
          </a:xfrm>
          <a:prstGeom prst="rect">
            <a:avLst/>
          </a:prstGeom>
          <a:solidFill>
            <a:srgbClr val="E2EFF4"/>
          </a:solidFill>
          <a:ln cap="flat" cmpd="sng" w="12700">
            <a:solidFill>
              <a:srgbClr val="E2EF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1449255" y="2478024"/>
            <a:ext cx="2092200" cy="237600"/>
          </a:xfrm>
          <a:prstGeom prst="rect">
            <a:avLst/>
          </a:prstGeom>
          <a:solidFill>
            <a:srgbClr val="0D7490"/>
          </a:solidFill>
          <a:ln cap="flat" cmpd="sng" w="12700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3770567" y="2432300"/>
            <a:ext cx="417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0.47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4751488" y="2496300"/>
            <a:ext cx="372300" cy="2013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4751488" y="2496300"/>
            <a:ext cx="37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347474" y="2834638"/>
            <a:ext cx="1051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Cardiomegaly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1449255" y="2880360"/>
            <a:ext cx="2377500" cy="237600"/>
          </a:xfrm>
          <a:prstGeom prst="rect">
            <a:avLst/>
          </a:prstGeom>
          <a:solidFill>
            <a:srgbClr val="E2EFF4"/>
          </a:solidFill>
          <a:ln cap="flat" cmpd="sng" w="12700">
            <a:solidFill>
              <a:srgbClr val="E2EF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1449255" y="2880360"/>
            <a:ext cx="1545300" cy="237600"/>
          </a:xfrm>
          <a:prstGeom prst="rect">
            <a:avLst/>
          </a:prstGeom>
          <a:solidFill>
            <a:srgbClr val="0D7490"/>
          </a:solidFill>
          <a:ln cap="flat" cmpd="sng" w="12700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3770567" y="2834637"/>
            <a:ext cx="417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0.38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4751488" y="2898638"/>
            <a:ext cx="372300" cy="2013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4751488" y="2898638"/>
            <a:ext cx="37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347474" y="3236976"/>
            <a:ext cx="1051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Lung Opacity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1449255" y="3282696"/>
            <a:ext cx="2377500" cy="237600"/>
          </a:xfrm>
          <a:prstGeom prst="rect">
            <a:avLst/>
          </a:prstGeom>
          <a:solidFill>
            <a:srgbClr val="E2EFF4"/>
          </a:solidFill>
          <a:ln cap="flat" cmpd="sng" w="12700">
            <a:solidFill>
              <a:srgbClr val="E2EF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1449255" y="3282696"/>
            <a:ext cx="808200" cy="2376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3770567" y="3236975"/>
            <a:ext cx="417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0.22</a:t>
            </a:r>
            <a:endParaRPr sz="9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4751488" y="3300975"/>
            <a:ext cx="372300" cy="2013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4751488" y="3300975"/>
            <a:ext cx="37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347474" y="3639314"/>
            <a:ext cx="1051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Atelectasis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1"/>
          <p:cNvSpPr/>
          <p:nvPr/>
        </p:nvSpPr>
        <p:spPr>
          <a:xfrm>
            <a:off x="1449255" y="3685032"/>
            <a:ext cx="2377500" cy="237600"/>
          </a:xfrm>
          <a:prstGeom prst="rect">
            <a:avLst/>
          </a:prstGeom>
          <a:solidFill>
            <a:srgbClr val="E2EFF4"/>
          </a:solidFill>
          <a:ln cap="flat" cmpd="sng" w="12700">
            <a:solidFill>
              <a:srgbClr val="E2EF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1449255" y="3685032"/>
            <a:ext cx="665700" cy="2376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3770567" y="3639312"/>
            <a:ext cx="417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0.19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4751488" y="3703313"/>
            <a:ext cx="372300" cy="2013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4751488" y="3703313"/>
            <a:ext cx="37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347474" y="4041652"/>
            <a:ext cx="1051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Pneumonia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1449255" y="4087368"/>
            <a:ext cx="2377500" cy="237600"/>
          </a:xfrm>
          <a:prstGeom prst="rect">
            <a:avLst/>
          </a:prstGeom>
          <a:solidFill>
            <a:srgbClr val="E2EFF4"/>
          </a:solidFill>
          <a:ln cap="flat" cmpd="sng" w="12700">
            <a:solidFill>
              <a:srgbClr val="E2EF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1449255" y="4087368"/>
            <a:ext cx="285300" cy="2376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3770567" y="4041650"/>
            <a:ext cx="417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0.08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4751488" y="4105650"/>
            <a:ext cx="372300" cy="2013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4751488" y="4105650"/>
            <a:ext cx="372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5321808" y="2057400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Per-Model Top Findings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5321808" y="2432304"/>
            <a:ext cx="1051560" cy="274320"/>
          </a:xfrm>
          <a:prstGeom prst="rect">
            <a:avLst/>
          </a:prstGeom>
          <a:solidFill>
            <a:srgbClr val="0D7490"/>
          </a:solidFill>
          <a:ln cap="flat" cmpd="sng" w="12700">
            <a:solidFill>
              <a:srgbClr val="0D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5321808" y="243230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DenseNet-121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5321808" y="2779776"/>
            <a:ext cx="1051560" cy="329184"/>
          </a:xfrm>
          <a:prstGeom prst="rect">
            <a:avLst/>
          </a:prstGeom>
          <a:solidFill>
            <a:srgbClr val="EFF8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5376672" y="2779776"/>
            <a:ext cx="9509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Cardiomegaly  31%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5321808" y="3182112"/>
            <a:ext cx="105156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5376672" y="3182112"/>
            <a:ext cx="9509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Lung Opacity  14%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5321808" y="3584448"/>
            <a:ext cx="105156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5376672" y="3584448"/>
            <a:ext cx="9509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Infiltration   12%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6464808" y="2432304"/>
            <a:ext cx="1051560" cy="27432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6464808" y="243230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ResNet-50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6464808" y="2779776"/>
            <a:ext cx="1051560" cy="329184"/>
          </a:xfrm>
          <a:prstGeom prst="rect">
            <a:avLst/>
          </a:prstGeom>
          <a:solidFill>
            <a:srgbClr val="EFF8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6519672" y="2779776"/>
            <a:ext cx="9509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Pleural Eff.  42%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6464808" y="3182112"/>
            <a:ext cx="105156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6519672" y="3182112"/>
            <a:ext cx="9509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Cardiomegaly  28%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1"/>
          <p:cNvSpPr/>
          <p:nvPr/>
        </p:nvSpPr>
        <p:spPr>
          <a:xfrm>
            <a:off x="6464808" y="3584448"/>
            <a:ext cx="105156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6519672" y="3584448"/>
            <a:ext cx="9509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Atelectasis   11%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7607808" y="2432304"/>
            <a:ext cx="1051560" cy="27432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7607808" y="243230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MedCLIP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7607808" y="2779776"/>
            <a:ext cx="1051560" cy="329184"/>
          </a:xfrm>
          <a:prstGeom prst="rect">
            <a:avLst/>
          </a:prstGeom>
          <a:solidFill>
            <a:srgbClr val="EFF8FB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7662672" y="2779776"/>
            <a:ext cx="9509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49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0D7490"/>
                </a:solidFill>
                <a:latin typeface="Calibri"/>
                <a:ea typeface="Calibri"/>
                <a:cs typeface="Calibri"/>
                <a:sym typeface="Calibri"/>
              </a:rPr>
              <a:t>Pleural Eff.  0.61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7607808" y="3182112"/>
            <a:ext cx="105156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7662672" y="3182112"/>
            <a:ext cx="9509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Cardiomegaly  0.44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7607808" y="3584448"/>
            <a:ext cx="1051560" cy="3291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7662672" y="3584448"/>
            <a:ext cx="9509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Edema          0.22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5215948" y="2011680"/>
            <a:ext cx="13800" cy="28347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4224125" y="2496425"/>
            <a:ext cx="491100" cy="2013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4224125" y="2496425"/>
            <a:ext cx="49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1"/>
          <p:cNvSpPr/>
          <p:nvPr/>
        </p:nvSpPr>
        <p:spPr>
          <a:xfrm>
            <a:off x="4224125" y="2897785"/>
            <a:ext cx="491100" cy="20130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1"/>
          <p:cNvSpPr/>
          <p:nvPr/>
        </p:nvSpPr>
        <p:spPr>
          <a:xfrm>
            <a:off x="4224125" y="2897785"/>
            <a:ext cx="49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1"/>
          <p:cNvSpPr/>
          <p:nvPr/>
        </p:nvSpPr>
        <p:spPr>
          <a:xfrm>
            <a:off x="4224125" y="3299131"/>
            <a:ext cx="491100" cy="2013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4224125" y="3299131"/>
            <a:ext cx="49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Mixed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1"/>
          <p:cNvSpPr/>
          <p:nvPr/>
        </p:nvSpPr>
        <p:spPr>
          <a:xfrm>
            <a:off x="4224125" y="3700477"/>
            <a:ext cx="491100" cy="2013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1"/>
          <p:cNvSpPr/>
          <p:nvPr/>
        </p:nvSpPr>
        <p:spPr>
          <a:xfrm>
            <a:off x="4224125" y="3700477"/>
            <a:ext cx="49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1"/>
          <p:cNvSpPr/>
          <p:nvPr/>
        </p:nvSpPr>
        <p:spPr>
          <a:xfrm>
            <a:off x="4224125" y="4101827"/>
            <a:ext cx="491100" cy="2013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1"/>
          <p:cNvSpPr/>
          <p:nvPr/>
        </p:nvSpPr>
        <p:spPr>
          <a:xfrm>
            <a:off x="4224125" y="4101827"/>
            <a:ext cx="491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4B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CAD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0CAD8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457200" y="64008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Agentic Ensemble for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Reliable CXR Classification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365760" y="2011680"/>
            <a:ext cx="4114800" cy="1024128"/>
          </a:xfrm>
          <a:prstGeom prst="rect">
            <a:avLst/>
          </a:prstGeom>
          <a:solidFill>
            <a:srgbClr val="0D7490">
              <a:alpha val="20000"/>
            </a:srgbClr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475488" y="2084832"/>
            <a:ext cx="3895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Multi-Tool Plugin Architecture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475488" y="2487168"/>
            <a:ext cx="38953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8E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B0D8E8"/>
                </a:solidFill>
                <a:latin typeface="Calibri"/>
                <a:ea typeface="Calibri"/>
                <a:cs typeface="Calibri"/>
                <a:sym typeface="Calibri"/>
              </a:rPr>
              <a:t>3 tool plugins in ChatClinic Tool Registry: </a:t>
            </a:r>
            <a:br>
              <a:rPr lang="en-US" sz="1100">
                <a:solidFill>
                  <a:srgbClr val="B0D8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B0D8E8"/>
                </a:solidFill>
                <a:latin typeface="Calibri"/>
                <a:ea typeface="Calibri"/>
                <a:cs typeface="Calibri"/>
                <a:sym typeface="Calibri"/>
              </a:rPr>
              <a:t>cxr_classification_tool (TXV) + cxr_classifier_tool (MedCLIP) + cxr_ensemble_tool (Ensemble orchestrator)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4754880" y="2011680"/>
            <a:ext cx="4114800" cy="1024128"/>
          </a:xfrm>
          <a:prstGeom prst="rect">
            <a:avLst/>
          </a:prstGeom>
          <a:solidFill>
            <a:srgbClr val="0D7490">
              <a:alpha val="20000"/>
            </a:srgbClr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4864608" y="2084832"/>
            <a:ext cx="3895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Confidence-Aware Routing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4864608" y="2487168"/>
            <a:ext cx="38953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8E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B0D8E8"/>
                </a:solidFill>
                <a:latin typeface="Calibri"/>
                <a:ea typeface="Calibri"/>
                <a:cs typeface="Calibri"/>
                <a:sym typeface="Calibri"/>
              </a:rPr>
              <a:t>Stage 1 fast-path for clear cases; </a:t>
            </a:r>
            <a:br>
              <a:rPr lang="en-US" sz="1100">
                <a:solidFill>
                  <a:srgbClr val="B0D8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B0D8E8"/>
                </a:solidFill>
                <a:latin typeface="Calibri"/>
                <a:ea typeface="Calibri"/>
                <a:cs typeface="Calibri"/>
                <a:sym typeface="Calibri"/>
              </a:rPr>
              <a:t>Stage 2 ensemble only on ambiguous 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365760" y="3200400"/>
            <a:ext cx="4114800" cy="1024128"/>
          </a:xfrm>
          <a:prstGeom prst="rect">
            <a:avLst/>
          </a:prstGeom>
          <a:solidFill>
            <a:srgbClr val="0D7490">
              <a:alpha val="20000"/>
            </a:srgbClr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475488" y="3273552"/>
            <a:ext cx="3895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 Alignment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475488" y="3675888"/>
            <a:ext cx="38953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8E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B0D8E8"/>
                </a:solidFill>
                <a:latin typeface="Calibri"/>
                <a:ea typeface="Calibri"/>
                <a:cs typeface="Calibri"/>
                <a:sym typeface="Calibri"/>
              </a:rPr>
              <a:t>TXV (18) &lt;-&gt; MedCLIP (14) vocabulary bridged </a:t>
            </a:r>
            <a:br>
              <a:rPr lang="en-US" sz="1100">
                <a:solidFill>
                  <a:srgbClr val="B0D8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B0D8E8"/>
                </a:solidFill>
                <a:latin typeface="Calibri"/>
                <a:ea typeface="Calibri"/>
                <a:cs typeface="Calibri"/>
                <a:sym typeface="Calibri"/>
              </a:rPr>
              <a:t>via canonical label mapping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4754880" y="3200400"/>
            <a:ext cx="4114800" cy="1024128"/>
          </a:xfrm>
          <a:prstGeom prst="rect">
            <a:avLst/>
          </a:prstGeom>
          <a:solidFill>
            <a:srgbClr val="0D7490">
              <a:alpha val="20000"/>
            </a:srgbClr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4864608" y="3273552"/>
            <a:ext cx="38953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 Discovery &amp; Fix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4864608" y="3675888"/>
            <a:ext cx="38953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D8E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B0D8E8"/>
                </a:solidFill>
                <a:latin typeface="Calibri"/>
                <a:ea typeface="Calibri"/>
                <a:cs typeface="Calibri"/>
                <a:sym typeface="Calibri"/>
              </a:rPr>
              <a:t>TorchXRayVision double-sigmoid found empirically and fixed; </a:t>
            </a:r>
            <a:br>
              <a:rPr lang="en-US" sz="1100">
                <a:solidFill>
                  <a:srgbClr val="B0D8E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B0D8E8"/>
                </a:solidFill>
                <a:latin typeface="Calibri"/>
                <a:ea typeface="Calibri"/>
                <a:cs typeface="Calibri"/>
                <a:sym typeface="Calibri"/>
              </a:rPr>
              <a:t>scores now meaningful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FA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7FA0"/>
                </a:solidFill>
                <a:latin typeface="Calibri"/>
                <a:ea typeface="Calibri"/>
                <a:cs typeface="Calibri"/>
                <a:sym typeface="Calibri"/>
              </a:rPr>
              <a:t>KAIST AI619  ·  Spring 2026  ·  chatclinic-multimodal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2026-06-09T06:24:26Z</dcterms:created>
  <dc:creator>PptxGenJS</dc:creator>
</cp:coreProperties>
</file>